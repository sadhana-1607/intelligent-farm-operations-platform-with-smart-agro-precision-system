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0770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4" d="100"/>
          <a:sy n="44" d="100"/>
        </p:scale>
        <p:origin x="660" y="6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31-Aug-26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31-Aug-26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31-Aug-26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31-Aug-26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31-Aug-26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31-Aug-26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31-Aug-26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31-Aug-26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31-Aug-26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31-Aug-26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31-Aug-26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31-Aug-26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8.svg"/><Relationship Id="rId4" Type="http://schemas.openxmlformats.org/officeDocument/2006/relationships/image" Target="../media/image17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sv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9.svg"/><Relationship Id="rId4" Type="http://schemas.openxmlformats.org/officeDocument/2006/relationships/image" Target="../media/image23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image" Target="../media/image19.sv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svg"/><Relationship Id="rId4" Type="http://schemas.openxmlformats.org/officeDocument/2006/relationships/image" Target="../media/image4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6666" b="-16666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8404725" y="-282730"/>
            <a:ext cx="9883275" cy="10569730"/>
            <a:chOff x="0" y="0"/>
            <a:chExt cx="2603003" cy="278379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03003" cy="2783797"/>
            </a:xfrm>
            <a:custGeom>
              <a:avLst/>
              <a:gdLst/>
              <a:ahLst/>
              <a:cxnLst/>
              <a:rect l="l" t="t" r="r" b="b"/>
              <a:pathLst>
                <a:path w="2603003" h="2783797">
                  <a:moveTo>
                    <a:pt x="0" y="0"/>
                  </a:moveTo>
                  <a:lnTo>
                    <a:pt x="2603003" y="0"/>
                  </a:lnTo>
                  <a:lnTo>
                    <a:pt x="2603003" y="2783797"/>
                  </a:lnTo>
                  <a:lnTo>
                    <a:pt x="0" y="2783797"/>
                  </a:lnTo>
                  <a:close/>
                </a:path>
              </a:pathLst>
            </a:custGeom>
            <a:solidFill>
              <a:srgbClr val="FCFFEE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2603003" cy="282189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 rot="5400000" flipV="1">
            <a:off x="2420303" y="3849053"/>
            <a:ext cx="10437278" cy="2438616"/>
          </a:xfrm>
          <a:custGeom>
            <a:avLst/>
            <a:gdLst/>
            <a:ahLst/>
            <a:cxnLst/>
            <a:rect l="l" t="t" r="r" b="b"/>
            <a:pathLst>
              <a:path w="10437278" h="2438616">
                <a:moveTo>
                  <a:pt x="0" y="2438616"/>
                </a:moveTo>
                <a:lnTo>
                  <a:pt x="10437278" y="2438616"/>
                </a:lnTo>
                <a:lnTo>
                  <a:pt x="10437278" y="0"/>
                </a:lnTo>
                <a:lnTo>
                  <a:pt x="0" y="0"/>
                </a:lnTo>
                <a:lnTo>
                  <a:pt x="0" y="2438616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7" name="Group 7"/>
          <p:cNvGrpSpPr>
            <a:grpSpLocks noChangeAspect="1"/>
          </p:cNvGrpSpPr>
          <p:nvPr/>
        </p:nvGrpSpPr>
        <p:grpSpPr>
          <a:xfrm rot="-1373334">
            <a:off x="14840515" y="-2617050"/>
            <a:ext cx="3772426" cy="7498572"/>
            <a:chOff x="0" y="0"/>
            <a:chExt cx="3198876" cy="6358509"/>
          </a:xfrm>
        </p:grpSpPr>
        <p:sp>
          <p:nvSpPr>
            <p:cNvPr id="8" name="Freeform 8"/>
            <p:cNvSpPr/>
            <p:nvPr/>
          </p:nvSpPr>
          <p:spPr>
            <a:xfrm>
              <a:off x="3937" y="3937"/>
              <a:ext cx="3191129" cy="6350635"/>
            </a:xfrm>
            <a:custGeom>
              <a:avLst/>
              <a:gdLst/>
              <a:ahLst/>
              <a:cxnLst/>
              <a:rect l="l" t="t" r="r" b="b"/>
              <a:pathLst>
                <a:path w="3191129" h="6350635">
                  <a:moveTo>
                    <a:pt x="3175254" y="0"/>
                  </a:moveTo>
                  <a:cubicBezTo>
                    <a:pt x="1421638" y="0"/>
                    <a:pt x="0" y="1421638"/>
                    <a:pt x="0" y="3175254"/>
                  </a:cubicBezTo>
                  <a:cubicBezTo>
                    <a:pt x="0" y="4928870"/>
                    <a:pt x="1421638" y="6350635"/>
                    <a:pt x="3175381" y="6350635"/>
                  </a:cubicBezTo>
                  <a:lnTo>
                    <a:pt x="3191129" y="4412361"/>
                  </a:lnTo>
                  <a:cubicBezTo>
                    <a:pt x="2512822" y="4412361"/>
                    <a:pt x="1963039" y="3862578"/>
                    <a:pt x="1963039" y="3184271"/>
                  </a:cubicBezTo>
                  <a:cubicBezTo>
                    <a:pt x="1963039" y="2505964"/>
                    <a:pt x="2512822" y="1956181"/>
                    <a:pt x="3191129" y="1956181"/>
                  </a:cubicBezTo>
                  <a:lnTo>
                    <a:pt x="3175254" y="0"/>
                  </a:lnTo>
                  <a:close/>
                </a:path>
              </a:pathLst>
            </a:custGeom>
            <a:blipFill>
              <a:blip r:embed="rId4"/>
              <a:stretch>
                <a:fillRect l="-99350" r="-99350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Freeform 9"/>
            <p:cNvSpPr/>
            <p:nvPr/>
          </p:nvSpPr>
          <p:spPr>
            <a:xfrm>
              <a:off x="0" y="0"/>
              <a:ext cx="3198749" cy="6358509"/>
            </a:xfrm>
            <a:custGeom>
              <a:avLst/>
              <a:gdLst/>
              <a:ahLst/>
              <a:cxnLst/>
              <a:rect l="l" t="t" r="r" b="b"/>
              <a:pathLst>
                <a:path w="3198749" h="6358509">
                  <a:moveTo>
                    <a:pt x="3183128" y="6358509"/>
                  </a:moveTo>
                  <a:lnTo>
                    <a:pt x="3179318" y="6358509"/>
                  </a:lnTo>
                  <a:cubicBezTo>
                    <a:pt x="2750185" y="6358509"/>
                    <a:pt x="2333752" y="6274435"/>
                    <a:pt x="1941830" y="6108700"/>
                  </a:cubicBezTo>
                  <a:cubicBezTo>
                    <a:pt x="1563243" y="5948553"/>
                    <a:pt x="1223264" y="5719318"/>
                    <a:pt x="931291" y="5427345"/>
                  </a:cubicBezTo>
                  <a:cubicBezTo>
                    <a:pt x="639318" y="5135372"/>
                    <a:pt x="410083" y="4795393"/>
                    <a:pt x="249936" y="4416806"/>
                  </a:cubicBezTo>
                  <a:cubicBezTo>
                    <a:pt x="84074" y="4024757"/>
                    <a:pt x="0" y="3608451"/>
                    <a:pt x="0" y="3179191"/>
                  </a:cubicBezTo>
                  <a:cubicBezTo>
                    <a:pt x="0" y="2749931"/>
                    <a:pt x="84074" y="2333625"/>
                    <a:pt x="249809" y="1941703"/>
                  </a:cubicBezTo>
                  <a:cubicBezTo>
                    <a:pt x="409956" y="1563116"/>
                    <a:pt x="639191" y="1223137"/>
                    <a:pt x="931164" y="931164"/>
                  </a:cubicBezTo>
                  <a:cubicBezTo>
                    <a:pt x="1223137" y="639191"/>
                    <a:pt x="1563116" y="409956"/>
                    <a:pt x="1941703" y="249809"/>
                  </a:cubicBezTo>
                  <a:cubicBezTo>
                    <a:pt x="2333625" y="84074"/>
                    <a:pt x="2750058" y="0"/>
                    <a:pt x="3179191" y="0"/>
                  </a:cubicBezTo>
                  <a:lnTo>
                    <a:pt x="3183001" y="0"/>
                  </a:lnTo>
                  <a:lnTo>
                    <a:pt x="3183001" y="3810"/>
                  </a:lnTo>
                  <a:lnTo>
                    <a:pt x="3198749" y="1964055"/>
                  </a:lnTo>
                  <a:lnTo>
                    <a:pt x="3194812" y="1964055"/>
                  </a:lnTo>
                  <a:cubicBezTo>
                    <a:pt x="2867787" y="1964055"/>
                    <a:pt x="2560320" y="2091436"/>
                    <a:pt x="2329180" y="2322576"/>
                  </a:cubicBezTo>
                  <a:cubicBezTo>
                    <a:pt x="2097913" y="2553843"/>
                    <a:pt x="1970659" y="2861183"/>
                    <a:pt x="1970659" y="3188208"/>
                  </a:cubicBezTo>
                  <a:cubicBezTo>
                    <a:pt x="1970659" y="3515233"/>
                    <a:pt x="2098040" y="3822700"/>
                    <a:pt x="2329180" y="4053840"/>
                  </a:cubicBezTo>
                  <a:cubicBezTo>
                    <a:pt x="2560447" y="4285107"/>
                    <a:pt x="2867787" y="4412361"/>
                    <a:pt x="3194812" y="4412361"/>
                  </a:cubicBezTo>
                  <a:lnTo>
                    <a:pt x="3198749" y="4412361"/>
                  </a:lnTo>
                  <a:lnTo>
                    <a:pt x="3198749" y="4416298"/>
                  </a:lnTo>
                  <a:lnTo>
                    <a:pt x="3183128" y="6358509"/>
                  </a:lnTo>
                  <a:close/>
                  <a:moveTo>
                    <a:pt x="3175381" y="7747"/>
                  </a:moveTo>
                  <a:cubicBezTo>
                    <a:pt x="2748534" y="8255"/>
                    <a:pt x="2334514" y="92075"/>
                    <a:pt x="1944751" y="256921"/>
                  </a:cubicBezTo>
                  <a:cubicBezTo>
                    <a:pt x="1567053" y="416687"/>
                    <a:pt x="1227963" y="645287"/>
                    <a:pt x="936625" y="936625"/>
                  </a:cubicBezTo>
                  <a:cubicBezTo>
                    <a:pt x="645414" y="1227836"/>
                    <a:pt x="416687" y="1567053"/>
                    <a:pt x="256921" y="1944751"/>
                  </a:cubicBezTo>
                  <a:cubicBezTo>
                    <a:pt x="91567" y="2335784"/>
                    <a:pt x="7747" y="2751074"/>
                    <a:pt x="7747" y="3179191"/>
                  </a:cubicBezTo>
                  <a:cubicBezTo>
                    <a:pt x="7747" y="3607308"/>
                    <a:pt x="91567" y="4022725"/>
                    <a:pt x="256921" y="4413631"/>
                  </a:cubicBezTo>
                  <a:cubicBezTo>
                    <a:pt x="416687" y="4791329"/>
                    <a:pt x="645287" y="5130419"/>
                    <a:pt x="936625" y="5421757"/>
                  </a:cubicBezTo>
                  <a:cubicBezTo>
                    <a:pt x="1227836" y="5712968"/>
                    <a:pt x="1567053" y="5941695"/>
                    <a:pt x="1944751" y="6101461"/>
                  </a:cubicBezTo>
                  <a:cubicBezTo>
                    <a:pt x="2334514" y="6266307"/>
                    <a:pt x="2748534" y="6350127"/>
                    <a:pt x="3175381" y="6350635"/>
                  </a:cubicBezTo>
                  <a:lnTo>
                    <a:pt x="3191129" y="4420108"/>
                  </a:lnTo>
                  <a:cubicBezTo>
                    <a:pt x="2863469" y="4419092"/>
                    <a:pt x="2555621" y="4291076"/>
                    <a:pt x="2323846" y="4059301"/>
                  </a:cubicBezTo>
                  <a:cubicBezTo>
                    <a:pt x="2091182" y="3826637"/>
                    <a:pt x="1963039" y="3517265"/>
                    <a:pt x="1963039" y="3188208"/>
                  </a:cubicBezTo>
                  <a:cubicBezTo>
                    <a:pt x="1963039" y="2859151"/>
                    <a:pt x="2091182" y="2549779"/>
                    <a:pt x="2323846" y="2317115"/>
                  </a:cubicBezTo>
                  <a:cubicBezTo>
                    <a:pt x="2555621" y="2085340"/>
                    <a:pt x="2863469" y="1957324"/>
                    <a:pt x="3191129" y="1956308"/>
                  </a:cubicBezTo>
                  <a:lnTo>
                    <a:pt x="3175381" y="7747"/>
                  </a:lnTo>
                  <a:close/>
                </a:path>
              </a:pathLst>
            </a:custGeom>
            <a:solidFill>
              <a:srgbClr val="407709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0" name="Freeform 10"/>
          <p:cNvSpPr/>
          <p:nvPr/>
        </p:nvSpPr>
        <p:spPr>
          <a:xfrm rot="-3822561">
            <a:off x="14210192" y="4422559"/>
            <a:ext cx="3331572" cy="3734733"/>
          </a:xfrm>
          <a:custGeom>
            <a:avLst/>
            <a:gdLst/>
            <a:ahLst/>
            <a:cxnLst/>
            <a:rect l="l" t="t" r="r" b="b"/>
            <a:pathLst>
              <a:path w="3331572" h="3734733">
                <a:moveTo>
                  <a:pt x="0" y="0"/>
                </a:moveTo>
                <a:lnTo>
                  <a:pt x="3331572" y="0"/>
                </a:lnTo>
                <a:lnTo>
                  <a:pt x="3331572" y="3734733"/>
                </a:lnTo>
                <a:lnTo>
                  <a:pt x="0" y="373473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>
          <a:xfrm>
            <a:off x="16948541" y="9198565"/>
            <a:ext cx="621518" cy="621518"/>
          </a:xfrm>
          <a:custGeom>
            <a:avLst/>
            <a:gdLst/>
            <a:ahLst/>
            <a:cxnLst/>
            <a:rect l="l" t="t" r="r" b="b"/>
            <a:pathLst>
              <a:path w="621518" h="621518">
                <a:moveTo>
                  <a:pt x="0" y="0"/>
                </a:moveTo>
                <a:lnTo>
                  <a:pt x="621518" y="0"/>
                </a:lnTo>
                <a:lnTo>
                  <a:pt x="621518" y="621517"/>
                </a:lnTo>
                <a:lnTo>
                  <a:pt x="0" y="62151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TextBox 12"/>
          <p:cNvSpPr txBox="1"/>
          <p:nvPr/>
        </p:nvSpPr>
        <p:spPr>
          <a:xfrm>
            <a:off x="7936406" y="563018"/>
            <a:ext cx="7497923" cy="35948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143"/>
              </a:lnSpc>
            </a:pPr>
            <a:r>
              <a:rPr lang="en-US" sz="5102" b="1">
                <a:solidFill>
                  <a:srgbClr val="407709"/>
                </a:solidFill>
                <a:latin typeface="Arial Unicode Bold"/>
                <a:ea typeface="Arial Unicode Bold"/>
                <a:cs typeface="Arial Unicode Bold"/>
                <a:sym typeface="Arial Unicode Bold"/>
              </a:rPr>
              <a:t>Intelligent Farm Operations Platform </a:t>
            </a:r>
          </a:p>
          <a:p>
            <a:pPr algn="ctr">
              <a:lnSpc>
                <a:spcPts val="7143"/>
              </a:lnSpc>
            </a:pPr>
            <a:r>
              <a:rPr lang="en-US" sz="5102" b="1">
                <a:solidFill>
                  <a:srgbClr val="407709"/>
                </a:solidFill>
                <a:latin typeface="Arial Unicode Bold"/>
                <a:ea typeface="Arial Unicode Bold"/>
                <a:cs typeface="Arial Unicode Bold"/>
                <a:sym typeface="Arial Unicode Bold"/>
              </a:rPr>
              <a:t>with smart agro precision system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779639" y="6129110"/>
            <a:ext cx="2949828" cy="405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 b="1" dirty="0" err="1">
                <a:solidFill>
                  <a:srgbClr val="407709"/>
                </a:solidFill>
                <a:latin typeface="Arial Unicode"/>
                <a:ea typeface="Arial Unicode"/>
                <a:cs typeface="Arial Unicode"/>
                <a:sym typeface="Arial Unicode"/>
              </a:rPr>
              <a:t>Likith</a:t>
            </a:r>
            <a:r>
              <a:rPr lang="en-US" sz="2400" b="1" dirty="0">
                <a:solidFill>
                  <a:srgbClr val="407709"/>
                </a:solidFill>
                <a:latin typeface="Arial Unicode"/>
                <a:ea typeface="Arial Unicode"/>
                <a:cs typeface="Arial Unicode"/>
                <a:sym typeface="Arial Unicode"/>
              </a:rPr>
              <a:t> Kumar Reddy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912606" y="6995061"/>
            <a:ext cx="2736593" cy="4017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 b="1" dirty="0">
                <a:solidFill>
                  <a:srgbClr val="407709"/>
                </a:solidFill>
                <a:latin typeface="Arial Unicode"/>
                <a:ea typeface="Arial Unicode"/>
                <a:cs typeface="Arial Unicode"/>
                <a:sym typeface="Arial Unicode"/>
              </a:rPr>
              <a:t>Prem Narayan N L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4019577" y="6995064"/>
            <a:ext cx="1946311" cy="405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 b="1" dirty="0">
                <a:solidFill>
                  <a:srgbClr val="407709"/>
                </a:solidFill>
                <a:latin typeface="Arial Unicode"/>
                <a:ea typeface="Arial Unicode"/>
                <a:cs typeface="Arial Unicode"/>
                <a:sym typeface="Arial Unicode"/>
              </a:rPr>
              <a:t>Arpitha B N 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3798120" y="6129110"/>
            <a:ext cx="2209403" cy="405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 b="1" dirty="0">
                <a:solidFill>
                  <a:srgbClr val="407709"/>
                </a:solidFill>
                <a:latin typeface="Arial Unicode"/>
                <a:ea typeface="Arial Unicode"/>
                <a:cs typeface="Arial Unicode"/>
                <a:sym typeface="Arial Unicode"/>
              </a:rPr>
              <a:t>Sadhana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144000" y="4954510"/>
            <a:ext cx="2617129" cy="4324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56"/>
              </a:lnSpc>
              <a:spcBef>
                <a:spcPct val="0"/>
              </a:spcBef>
            </a:pPr>
            <a:r>
              <a:rPr lang="en-US" sz="2540" b="1">
                <a:solidFill>
                  <a:srgbClr val="000000"/>
                </a:solidFill>
                <a:latin typeface="Arial Unicode Bold"/>
                <a:ea typeface="Arial Unicode Bold"/>
                <a:cs typeface="Arial Unicode Bold"/>
                <a:sym typeface="Arial Unicode Bold"/>
              </a:rPr>
              <a:t>PRESENTED BY: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143999" y="8562878"/>
            <a:ext cx="1699341" cy="4253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556"/>
              </a:lnSpc>
              <a:spcBef>
                <a:spcPct val="0"/>
              </a:spcBef>
            </a:pPr>
            <a:r>
              <a:rPr lang="en-US" sz="2540" b="1" dirty="0">
                <a:solidFill>
                  <a:srgbClr val="000000"/>
                </a:solidFill>
                <a:latin typeface="Arial Unicode Bold"/>
                <a:ea typeface="Arial Unicode Bold"/>
                <a:cs typeface="Arial Unicode Bold"/>
                <a:sym typeface="Arial Unicode Bold"/>
              </a:rPr>
              <a:t>MENTOR : 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1442521" y="8562878"/>
            <a:ext cx="2577056" cy="40576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 b="1" dirty="0">
                <a:solidFill>
                  <a:srgbClr val="407709"/>
                </a:solidFill>
                <a:latin typeface="Arial Unicode"/>
                <a:ea typeface="Arial Unicode"/>
                <a:cs typeface="Arial Unicode"/>
                <a:sym typeface="Arial Unicode"/>
              </a:rPr>
              <a:t>Suramya Biswas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F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818533" y="7291879"/>
            <a:ext cx="8614459" cy="1350669"/>
            <a:chOff x="0" y="0"/>
            <a:chExt cx="2268829" cy="35573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268829" cy="355732"/>
            </a:xfrm>
            <a:custGeom>
              <a:avLst/>
              <a:gdLst/>
              <a:ahLst/>
              <a:cxnLst/>
              <a:rect l="l" t="t" r="r" b="b"/>
              <a:pathLst>
                <a:path w="2268829" h="355732">
                  <a:moveTo>
                    <a:pt x="89871" y="0"/>
                  </a:moveTo>
                  <a:lnTo>
                    <a:pt x="2178957" y="0"/>
                  </a:lnTo>
                  <a:cubicBezTo>
                    <a:pt x="2228592" y="0"/>
                    <a:pt x="2268829" y="40237"/>
                    <a:pt x="2268829" y="89871"/>
                  </a:cubicBezTo>
                  <a:lnTo>
                    <a:pt x="2268829" y="265861"/>
                  </a:lnTo>
                  <a:cubicBezTo>
                    <a:pt x="2268829" y="315495"/>
                    <a:pt x="2228592" y="355732"/>
                    <a:pt x="2178957" y="355732"/>
                  </a:cubicBezTo>
                  <a:lnTo>
                    <a:pt x="89871" y="355732"/>
                  </a:lnTo>
                  <a:cubicBezTo>
                    <a:pt x="40237" y="355732"/>
                    <a:pt x="0" y="315495"/>
                    <a:pt x="0" y="265861"/>
                  </a:cubicBezTo>
                  <a:lnTo>
                    <a:pt x="0" y="89871"/>
                  </a:lnTo>
                  <a:cubicBezTo>
                    <a:pt x="0" y="40237"/>
                    <a:pt x="40237" y="0"/>
                    <a:pt x="89871" y="0"/>
                  </a:cubicBezTo>
                  <a:close/>
                </a:path>
              </a:pathLst>
            </a:custGeom>
            <a:solidFill>
              <a:srgbClr val="407709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268829" cy="3938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 rot="799775">
            <a:off x="-3317656" y="2488523"/>
            <a:ext cx="7778603" cy="8226433"/>
          </a:xfrm>
          <a:custGeom>
            <a:avLst/>
            <a:gdLst/>
            <a:ahLst/>
            <a:cxnLst/>
            <a:rect l="l" t="t" r="r" b="b"/>
            <a:pathLst>
              <a:path w="7778603" h="8226433">
                <a:moveTo>
                  <a:pt x="0" y="0"/>
                </a:moveTo>
                <a:lnTo>
                  <a:pt x="7778603" y="0"/>
                </a:lnTo>
                <a:lnTo>
                  <a:pt x="7778603" y="8226432"/>
                </a:lnTo>
                <a:lnTo>
                  <a:pt x="0" y="822643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6" name="Group 6"/>
          <p:cNvGrpSpPr/>
          <p:nvPr/>
        </p:nvGrpSpPr>
        <p:grpSpPr>
          <a:xfrm>
            <a:off x="1028700" y="1652520"/>
            <a:ext cx="7061944" cy="7061944"/>
            <a:chOff x="0" y="0"/>
            <a:chExt cx="6350000" cy="63500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6350000" y="0"/>
                  </a:moveTo>
                  <a:cubicBezTo>
                    <a:pt x="6350000" y="1226820"/>
                    <a:pt x="6350000" y="2456180"/>
                    <a:pt x="6350000" y="3683000"/>
                  </a:cubicBezTo>
                  <a:lnTo>
                    <a:pt x="6223000" y="3683000"/>
                  </a:lnTo>
                  <a:cubicBezTo>
                    <a:pt x="6223000" y="3796030"/>
                    <a:pt x="6223000" y="3950970"/>
                    <a:pt x="6223000" y="4064000"/>
                  </a:cubicBezTo>
                  <a:lnTo>
                    <a:pt x="6096000" y="4064000"/>
                  </a:lnTo>
                  <a:cubicBezTo>
                    <a:pt x="6096000" y="4177030"/>
                    <a:pt x="6096000" y="4331970"/>
                    <a:pt x="6096000" y="4445000"/>
                  </a:cubicBezTo>
                  <a:lnTo>
                    <a:pt x="5969000" y="4445000"/>
                  </a:lnTo>
                  <a:cubicBezTo>
                    <a:pt x="5969000" y="4508500"/>
                    <a:pt x="5969000" y="4635500"/>
                    <a:pt x="5969000" y="4699000"/>
                  </a:cubicBezTo>
                  <a:lnTo>
                    <a:pt x="5842000" y="4699000"/>
                  </a:lnTo>
                  <a:cubicBezTo>
                    <a:pt x="5842000" y="4762500"/>
                    <a:pt x="5842000" y="4889500"/>
                    <a:pt x="5842000" y="4953000"/>
                  </a:cubicBezTo>
                  <a:lnTo>
                    <a:pt x="5715000" y="4953000"/>
                  </a:lnTo>
                  <a:lnTo>
                    <a:pt x="5715000" y="5080000"/>
                  </a:lnTo>
                  <a:lnTo>
                    <a:pt x="5588000" y="5080000"/>
                  </a:lnTo>
                  <a:lnTo>
                    <a:pt x="5588000" y="5207000"/>
                  </a:lnTo>
                  <a:lnTo>
                    <a:pt x="5461000" y="5207000"/>
                  </a:lnTo>
                  <a:lnTo>
                    <a:pt x="5461000" y="5334000"/>
                  </a:lnTo>
                  <a:lnTo>
                    <a:pt x="5334000" y="5334000"/>
                  </a:lnTo>
                  <a:lnTo>
                    <a:pt x="5334000" y="5461000"/>
                  </a:lnTo>
                  <a:lnTo>
                    <a:pt x="5207000" y="5461000"/>
                  </a:lnTo>
                  <a:lnTo>
                    <a:pt x="5207000" y="5588000"/>
                  </a:lnTo>
                  <a:lnTo>
                    <a:pt x="5080000" y="5588000"/>
                  </a:lnTo>
                  <a:lnTo>
                    <a:pt x="5080000" y="5715000"/>
                  </a:lnTo>
                  <a:lnTo>
                    <a:pt x="4953000" y="5715000"/>
                  </a:lnTo>
                  <a:lnTo>
                    <a:pt x="4953000" y="5842000"/>
                  </a:lnTo>
                  <a:cubicBezTo>
                    <a:pt x="4889500" y="5842000"/>
                    <a:pt x="4762500" y="5842000"/>
                    <a:pt x="4699000" y="5842000"/>
                  </a:cubicBezTo>
                  <a:lnTo>
                    <a:pt x="4699000" y="5969000"/>
                  </a:lnTo>
                  <a:cubicBezTo>
                    <a:pt x="4585970" y="5969000"/>
                    <a:pt x="4431030" y="5969000"/>
                    <a:pt x="4318000" y="5969000"/>
                  </a:cubicBezTo>
                  <a:lnTo>
                    <a:pt x="4318000" y="6096000"/>
                  </a:lnTo>
                  <a:cubicBezTo>
                    <a:pt x="4159250" y="6096000"/>
                    <a:pt x="3968750" y="6096000"/>
                    <a:pt x="3810000" y="6096000"/>
                  </a:cubicBezTo>
                  <a:lnTo>
                    <a:pt x="3810000" y="6223000"/>
                  </a:lnTo>
                  <a:cubicBezTo>
                    <a:pt x="3696970" y="6223000"/>
                    <a:pt x="3542030" y="6223000"/>
                    <a:pt x="3429000" y="6223000"/>
                  </a:cubicBezTo>
                  <a:lnTo>
                    <a:pt x="3429000" y="6350000"/>
                  </a:lnTo>
                  <a:lnTo>
                    <a:pt x="3302000" y="6350000"/>
                  </a:lnTo>
                  <a:cubicBezTo>
                    <a:pt x="3302000" y="5039360"/>
                    <a:pt x="3302000" y="3723640"/>
                    <a:pt x="3302000" y="2413000"/>
                  </a:cubicBezTo>
                  <a:lnTo>
                    <a:pt x="3429000" y="2413000"/>
                  </a:lnTo>
                  <a:cubicBezTo>
                    <a:pt x="3429000" y="2299970"/>
                    <a:pt x="3429000" y="2145030"/>
                    <a:pt x="3429000" y="2032000"/>
                  </a:cubicBezTo>
                  <a:lnTo>
                    <a:pt x="3556000" y="2032000"/>
                  </a:lnTo>
                  <a:cubicBezTo>
                    <a:pt x="3556000" y="1968500"/>
                    <a:pt x="3556000" y="1841500"/>
                    <a:pt x="3556000" y="1778000"/>
                  </a:cubicBezTo>
                  <a:lnTo>
                    <a:pt x="3683000" y="1778000"/>
                  </a:lnTo>
                  <a:cubicBezTo>
                    <a:pt x="3683000" y="1714500"/>
                    <a:pt x="3683000" y="1587500"/>
                    <a:pt x="3683000" y="1524000"/>
                  </a:cubicBezTo>
                  <a:lnTo>
                    <a:pt x="3810000" y="1524000"/>
                  </a:lnTo>
                  <a:lnTo>
                    <a:pt x="3810000" y="1397000"/>
                  </a:lnTo>
                  <a:lnTo>
                    <a:pt x="3937000" y="1397000"/>
                  </a:lnTo>
                  <a:lnTo>
                    <a:pt x="3937000" y="1270000"/>
                  </a:lnTo>
                  <a:lnTo>
                    <a:pt x="4064000" y="1270000"/>
                  </a:lnTo>
                  <a:lnTo>
                    <a:pt x="4064000" y="1143000"/>
                  </a:lnTo>
                  <a:lnTo>
                    <a:pt x="4191000" y="1143000"/>
                  </a:lnTo>
                  <a:lnTo>
                    <a:pt x="4191000" y="1016000"/>
                  </a:lnTo>
                  <a:lnTo>
                    <a:pt x="4318000" y="1016000"/>
                  </a:lnTo>
                  <a:lnTo>
                    <a:pt x="4318000" y="889000"/>
                  </a:lnTo>
                  <a:lnTo>
                    <a:pt x="4445000" y="889000"/>
                  </a:lnTo>
                  <a:lnTo>
                    <a:pt x="4445000" y="762000"/>
                  </a:lnTo>
                  <a:cubicBezTo>
                    <a:pt x="4508500" y="762000"/>
                    <a:pt x="4635500" y="762000"/>
                    <a:pt x="4699000" y="762000"/>
                  </a:cubicBezTo>
                  <a:lnTo>
                    <a:pt x="4699000" y="635000"/>
                  </a:lnTo>
                  <a:lnTo>
                    <a:pt x="4826000" y="635000"/>
                  </a:lnTo>
                  <a:lnTo>
                    <a:pt x="4826000" y="508000"/>
                  </a:lnTo>
                  <a:cubicBezTo>
                    <a:pt x="4889500" y="508000"/>
                    <a:pt x="5016500" y="508000"/>
                    <a:pt x="5080000" y="508000"/>
                  </a:cubicBezTo>
                  <a:lnTo>
                    <a:pt x="5080000" y="381000"/>
                  </a:lnTo>
                  <a:cubicBezTo>
                    <a:pt x="5193030" y="381000"/>
                    <a:pt x="5347970" y="381000"/>
                    <a:pt x="5461000" y="381000"/>
                  </a:cubicBezTo>
                  <a:lnTo>
                    <a:pt x="5461000" y="254000"/>
                  </a:lnTo>
                  <a:cubicBezTo>
                    <a:pt x="5619750" y="254000"/>
                    <a:pt x="5810250" y="254000"/>
                    <a:pt x="5969000" y="254000"/>
                  </a:cubicBezTo>
                  <a:lnTo>
                    <a:pt x="5969000" y="127000"/>
                  </a:lnTo>
                  <a:cubicBezTo>
                    <a:pt x="6032500" y="127000"/>
                    <a:pt x="6159500" y="127000"/>
                    <a:pt x="6223000" y="127000"/>
                  </a:cubicBezTo>
                  <a:lnTo>
                    <a:pt x="6223000" y="0"/>
                  </a:lnTo>
                  <a:lnTo>
                    <a:pt x="6350000" y="0"/>
                  </a:lnTo>
                  <a:close/>
                  <a:moveTo>
                    <a:pt x="2921000" y="2286000"/>
                  </a:moveTo>
                  <a:cubicBezTo>
                    <a:pt x="2921000" y="2222500"/>
                    <a:pt x="2921000" y="2095500"/>
                    <a:pt x="2921000" y="2032000"/>
                  </a:cubicBezTo>
                  <a:lnTo>
                    <a:pt x="2794000" y="2032000"/>
                  </a:lnTo>
                  <a:cubicBezTo>
                    <a:pt x="2794000" y="1968500"/>
                    <a:pt x="2794000" y="1841500"/>
                    <a:pt x="2794000" y="1778000"/>
                  </a:cubicBezTo>
                  <a:lnTo>
                    <a:pt x="2667000" y="1778000"/>
                  </a:lnTo>
                  <a:cubicBezTo>
                    <a:pt x="2667000" y="1714500"/>
                    <a:pt x="2667000" y="1587500"/>
                    <a:pt x="2667000" y="1524000"/>
                  </a:cubicBezTo>
                  <a:lnTo>
                    <a:pt x="2540000" y="1524000"/>
                  </a:lnTo>
                  <a:lnTo>
                    <a:pt x="2540000" y="1397000"/>
                  </a:lnTo>
                  <a:lnTo>
                    <a:pt x="2413000" y="1397000"/>
                  </a:lnTo>
                  <a:lnTo>
                    <a:pt x="2413000" y="1270000"/>
                  </a:lnTo>
                  <a:lnTo>
                    <a:pt x="2286000" y="1270000"/>
                  </a:lnTo>
                  <a:lnTo>
                    <a:pt x="2286000" y="1143000"/>
                  </a:lnTo>
                  <a:lnTo>
                    <a:pt x="2159000" y="1143000"/>
                  </a:lnTo>
                  <a:lnTo>
                    <a:pt x="2159000" y="1016000"/>
                  </a:lnTo>
                  <a:lnTo>
                    <a:pt x="2032000" y="1016000"/>
                  </a:lnTo>
                  <a:lnTo>
                    <a:pt x="2032000" y="889000"/>
                  </a:lnTo>
                  <a:lnTo>
                    <a:pt x="1905000" y="889000"/>
                  </a:lnTo>
                  <a:lnTo>
                    <a:pt x="1905000" y="762000"/>
                  </a:lnTo>
                  <a:cubicBezTo>
                    <a:pt x="1841500" y="762000"/>
                    <a:pt x="1714500" y="762000"/>
                    <a:pt x="1651000" y="762000"/>
                  </a:cubicBezTo>
                  <a:lnTo>
                    <a:pt x="1651000" y="635000"/>
                  </a:lnTo>
                  <a:lnTo>
                    <a:pt x="1524000" y="635000"/>
                  </a:lnTo>
                  <a:lnTo>
                    <a:pt x="1524000" y="508000"/>
                  </a:lnTo>
                  <a:cubicBezTo>
                    <a:pt x="1460500" y="508000"/>
                    <a:pt x="1333500" y="508000"/>
                    <a:pt x="1270000" y="508000"/>
                  </a:cubicBezTo>
                  <a:lnTo>
                    <a:pt x="1270000" y="381000"/>
                  </a:lnTo>
                  <a:cubicBezTo>
                    <a:pt x="1156970" y="381000"/>
                    <a:pt x="1002030" y="381000"/>
                    <a:pt x="889000" y="381000"/>
                  </a:cubicBezTo>
                  <a:lnTo>
                    <a:pt x="889000" y="254000"/>
                  </a:lnTo>
                  <a:cubicBezTo>
                    <a:pt x="730250" y="254000"/>
                    <a:pt x="539750" y="254000"/>
                    <a:pt x="381000" y="254000"/>
                  </a:cubicBezTo>
                  <a:lnTo>
                    <a:pt x="381000" y="127000"/>
                  </a:lnTo>
                  <a:cubicBezTo>
                    <a:pt x="317500" y="127000"/>
                    <a:pt x="190500" y="127000"/>
                    <a:pt x="127000" y="127000"/>
                  </a:cubicBezTo>
                  <a:lnTo>
                    <a:pt x="127000" y="0"/>
                  </a:lnTo>
                  <a:lnTo>
                    <a:pt x="0" y="0"/>
                  </a:lnTo>
                  <a:cubicBezTo>
                    <a:pt x="0" y="1226820"/>
                    <a:pt x="0" y="2456180"/>
                    <a:pt x="0" y="3683000"/>
                  </a:cubicBezTo>
                  <a:lnTo>
                    <a:pt x="127000" y="3683000"/>
                  </a:lnTo>
                  <a:cubicBezTo>
                    <a:pt x="127000" y="3796030"/>
                    <a:pt x="127000" y="3950970"/>
                    <a:pt x="127000" y="4064000"/>
                  </a:cubicBezTo>
                  <a:lnTo>
                    <a:pt x="254000" y="4064000"/>
                  </a:lnTo>
                  <a:cubicBezTo>
                    <a:pt x="254000" y="4177030"/>
                    <a:pt x="254000" y="4331970"/>
                    <a:pt x="254000" y="4445000"/>
                  </a:cubicBezTo>
                  <a:lnTo>
                    <a:pt x="381000" y="4445000"/>
                  </a:lnTo>
                  <a:cubicBezTo>
                    <a:pt x="381000" y="4508500"/>
                    <a:pt x="381000" y="4635500"/>
                    <a:pt x="381000" y="4699000"/>
                  </a:cubicBezTo>
                  <a:lnTo>
                    <a:pt x="508000" y="4699000"/>
                  </a:lnTo>
                  <a:cubicBezTo>
                    <a:pt x="508000" y="4762500"/>
                    <a:pt x="508000" y="4889500"/>
                    <a:pt x="508000" y="4953000"/>
                  </a:cubicBezTo>
                  <a:lnTo>
                    <a:pt x="635000" y="4953000"/>
                  </a:lnTo>
                  <a:lnTo>
                    <a:pt x="635000" y="5080000"/>
                  </a:lnTo>
                  <a:lnTo>
                    <a:pt x="762000" y="5080000"/>
                  </a:lnTo>
                  <a:lnTo>
                    <a:pt x="762000" y="5207000"/>
                  </a:lnTo>
                  <a:lnTo>
                    <a:pt x="889000" y="5207000"/>
                  </a:lnTo>
                  <a:lnTo>
                    <a:pt x="889000" y="5334000"/>
                  </a:lnTo>
                  <a:lnTo>
                    <a:pt x="1016000" y="5334000"/>
                  </a:lnTo>
                  <a:lnTo>
                    <a:pt x="1016000" y="5461000"/>
                  </a:lnTo>
                  <a:lnTo>
                    <a:pt x="1143000" y="5461000"/>
                  </a:lnTo>
                  <a:lnTo>
                    <a:pt x="1143000" y="5588000"/>
                  </a:lnTo>
                  <a:lnTo>
                    <a:pt x="1270000" y="5588000"/>
                  </a:lnTo>
                  <a:lnTo>
                    <a:pt x="1270000" y="5715000"/>
                  </a:lnTo>
                  <a:lnTo>
                    <a:pt x="1397000" y="5715000"/>
                  </a:lnTo>
                  <a:lnTo>
                    <a:pt x="1397000" y="5842000"/>
                  </a:lnTo>
                  <a:cubicBezTo>
                    <a:pt x="1460500" y="5842000"/>
                    <a:pt x="1587500" y="5842000"/>
                    <a:pt x="1651000" y="5842000"/>
                  </a:cubicBezTo>
                  <a:lnTo>
                    <a:pt x="1651000" y="5969000"/>
                  </a:lnTo>
                  <a:cubicBezTo>
                    <a:pt x="1764030" y="5969000"/>
                    <a:pt x="1918970" y="5969000"/>
                    <a:pt x="2032000" y="5969000"/>
                  </a:cubicBezTo>
                  <a:lnTo>
                    <a:pt x="2032000" y="6096000"/>
                  </a:lnTo>
                  <a:cubicBezTo>
                    <a:pt x="2190750" y="6096000"/>
                    <a:pt x="2381250" y="6096000"/>
                    <a:pt x="2540000" y="6096000"/>
                  </a:cubicBezTo>
                  <a:lnTo>
                    <a:pt x="2540000" y="6223000"/>
                  </a:lnTo>
                  <a:cubicBezTo>
                    <a:pt x="2653030" y="6223000"/>
                    <a:pt x="2807970" y="6223000"/>
                    <a:pt x="2921000" y="6223000"/>
                  </a:cubicBezTo>
                  <a:lnTo>
                    <a:pt x="2921000" y="6350000"/>
                  </a:lnTo>
                  <a:lnTo>
                    <a:pt x="3048000" y="6350000"/>
                  </a:lnTo>
                  <a:cubicBezTo>
                    <a:pt x="3048000" y="5039360"/>
                    <a:pt x="3048000" y="3723640"/>
                    <a:pt x="3048000" y="2413000"/>
                  </a:cubicBezTo>
                  <a:lnTo>
                    <a:pt x="2921000" y="2413000"/>
                  </a:lnTo>
                  <a:lnTo>
                    <a:pt x="2921000" y="2286000"/>
                  </a:lnTo>
                  <a:close/>
                </a:path>
              </a:pathLst>
            </a:custGeom>
            <a:blipFill>
              <a:blip r:embed="rId3"/>
              <a:stretch>
                <a:fillRect l="-27972" r="-27972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8090644" y="7124711"/>
            <a:ext cx="1685004" cy="1685004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CFFEE"/>
            </a:solidFill>
            <a:ln w="47625" cap="sq">
              <a:solidFill>
                <a:srgbClr val="407709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>
            <a:off x="8562111" y="7559889"/>
            <a:ext cx="742070" cy="814648"/>
          </a:xfrm>
          <a:custGeom>
            <a:avLst/>
            <a:gdLst/>
            <a:ahLst/>
            <a:cxnLst/>
            <a:rect l="l" t="t" r="r" b="b"/>
            <a:pathLst>
              <a:path w="742070" h="814648">
                <a:moveTo>
                  <a:pt x="0" y="0"/>
                </a:moveTo>
                <a:lnTo>
                  <a:pt x="742070" y="0"/>
                </a:lnTo>
                <a:lnTo>
                  <a:pt x="742070" y="814648"/>
                </a:lnTo>
                <a:lnTo>
                  <a:pt x="0" y="81464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2" name="Group 12"/>
          <p:cNvGrpSpPr/>
          <p:nvPr/>
        </p:nvGrpSpPr>
        <p:grpSpPr>
          <a:xfrm>
            <a:off x="16845603" y="2912835"/>
            <a:ext cx="3455845" cy="3455845"/>
            <a:chOff x="0" y="0"/>
            <a:chExt cx="812800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07709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7432992" y="3500224"/>
            <a:ext cx="2281067" cy="2281067"/>
            <a:chOff x="0" y="0"/>
            <a:chExt cx="812800" cy="8128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2C11B"/>
            </a:solidFill>
            <a:ln w="428625" cap="sq">
              <a:solidFill>
                <a:srgbClr val="FCFFEE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9475631" y="1194377"/>
            <a:ext cx="7012700" cy="8870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79"/>
              </a:lnSpc>
            </a:pPr>
            <a:r>
              <a:rPr lang="en-US" sz="5199" b="1">
                <a:solidFill>
                  <a:srgbClr val="407709"/>
                </a:solidFill>
                <a:latin typeface="Arial Unicode Bold"/>
                <a:ea typeface="Arial Unicode Bold"/>
                <a:cs typeface="Arial Unicode Bold"/>
                <a:sym typeface="Arial Unicode Bold"/>
              </a:rPr>
              <a:t>INTRODUCTION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144000" y="2699985"/>
            <a:ext cx="6555326" cy="37585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18158" lvl="1" indent="-259079" algn="l">
              <a:lnSpc>
                <a:spcPts val="3359"/>
              </a:lnSpc>
              <a:buFont typeface="Arial"/>
              <a:buChar char="•"/>
            </a:pPr>
            <a:r>
              <a:rPr lang="en-US" sz="2399">
                <a:solidFill>
                  <a:srgbClr val="407709"/>
                </a:solidFill>
                <a:latin typeface="Arial Unicode"/>
                <a:ea typeface="Arial Unicode"/>
                <a:cs typeface="Arial Unicode"/>
                <a:sym typeface="Arial Unicode"/>
              </a:rPr>
              <a:t>Agriculture supports human life through food, raw materials, and livelihoods, but traditional farming often relies on manual decisions and resource estimation.</a:t>
            </a:r>
          </a:p>
          <a:p>
            <a:pPr algn="l">
              <a:lnSpc>
                <a:spcPts val="3359"/>
              </a:lnSpc>
            </a:pPr>
            <a:endParaRPr lang="en-US" sz="2399">
              <a:solidFill>
                <a:srgbClr val="407709"/>
              </a:solidFill>
              <a:latin typeface="Arial Unicode"/>
              <a:ea typeface="Arial Unicode"/>
              <a:cs typeface="Arial Unicode"/>
              <a:sym typeface="Arial Unicode"/>
            </a:endParaRPr>
          </a:p>
          <a:p>
            <a:pPr marL="518158" lvl="1" indent="-259079" algn="l">
              <a:lnSpc>
                <a:spcPts val="3359"/>
              </a:lnSpc>
              <a:buFont typeface="Arial"/>
              <a:buChar char="•"/>
            </a:pPr>
            <a:r>
              <a:rPr lang="en-US" sz="2399">
                <a:solidFill>
                  <a:srgbClr val="407709"/>
                </a:solidFill>
                <a:latin typeface="Arial Unicode"/>
                <a:ea typeface="Arial Unicode"/>
                <a:cs typeface="Arial Unicode"/>
                <a:sym typeface="Arial Unicode"/>
              </a:rPr>
              <a:t>IntelligentFarmOperationPlatform integrates technology, data, and AI to make farm management smarter and more efficient.</a:t>
            </a:r>
          </a:p>
          <a:p>
            <a:pPr algn="l">
              <a:lnSpc>
                <a:spcPts val="3359"/>
              </a:lnSpc>
            </a:pPr>
            <a:endParaRPr lang="en-US" sz="2399">
              <a:solidFill>
                <a:srgbClr val="407709"/>
              </a:solidFill>
              <a:latin typeface="Arial Unicode"/>
              <a:ea typeface="Arial Unicode"/>
              <a:cs typeface="Arial Unicode"/>
              <a:sym typeface="Arial Unicode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9990561" y="7512264"/>
            <a:ext cx="7051502" cy="8248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399">
                <a:solidFill>
                  <a:srgbClr val="E1F0CF"/>
                </a:solidFill>
                <a:latin typeface="Arial Unicode"/>
                <a:ea typeface="Arial Unicode"/>
                <a:cs typeface="Arial Unicode"/>
                <a:sym typeface="Arial Unicode"/>
              </a:rPr>
              <a:t>Transforming traditional farming into a smarter, data-driven &amp;  resource-efficient agricultural system.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F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799775">
            <a:off x="-3317656" y="2488523"/>
            <a:ext cx="7778603" cy="8226433"/>
          </a:xfrm>
          <a:custGeom>
            <a:avLst/>
            <a:gdLst/>
            <a:ahLst/>
            <a:cxnLst/>
            <a:rect l="l" t="t" r="r" b="b"/>
            <a:pathLst>
              <a:path w="7778603" h="8226433">
                <a:moveTo>
                  <a:pt x="0" y="0"/>
                </a:moveTo>
                <a:lnTo>
                  <a:pt x="7778603" y="0"/>
                </a:lnTo>
                <a:lnTo>
                  <a:pt x="7778603" y="8226432"/>
                </a:lnTo>
                <a:lnTo>
                  <a:pt x="0" y="822643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1373022" y="7459046"/>
            <a:ext cx="8397897" cy="1350669"/>
            <a:chOff x="0" y="0"/>
            <a:chExt cx="2211792" cy="35573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211792" cy="355732"/>
            </a:xfrm>
            <a:custGeom>
              <a:avLst/>
              <a:gdLst/>
              <a:ahLst/>
              <a:cxnLst/>
              <a:rect l="l" t="t" r="r" b="b"/>
              <a:pathLst>
                <a:path w="2211792" h="355732">
                  <a:moveTo>
                    <a:pt x="63610" y="0"/>
                  </a:moveTo>
                  <a:lnTo>
                    <a:pt x="2148181" y="0"/>
                  </a:lnTo>
                  <a:cubicBezTo>
                    <a:pt x="2183312" y="0"/>
                    <a:pt x="2211792" y="28479"/>
                    <a:pt x="2211792" y="63610"/>
                  </a:cubicBezTo>
                  <a:lnTo>
                    <a:pt x="2211792" y="292122"/>
                  </a:lnTo>
                  <a:cubicBezTo>
                    <a:pt x="2211792" y="308992"/>
                    <a:pt x="2205090" y="325172"/>
                    <a:pt x="2193161" y="337101"/>
                  </a:cubicBezTo>
                  <a:cubicBezTo>
                    <a:pt x="2181231" y="349030"/>
                    <a:pt x="2165052" y="355732"/>
                    <a:pt x="2148181" y="355732"/>
                  </a:cubicBezTo>
                  <a:lnTo>
                    <a:pt x="63610" y="355732"/>
                  </a:lnTo>
                  <a:cubicBezTo>
                    <a:pt x="46740" y="355732"/>
                    <a:pt x="30560" y="349030"/>
                    <a:pt x="18631" y="337101"/>
                  </a:cubicBezTo>
                  <a:cubicBezTo>
                    <a:pt x="6702" y="325172"/>
                    <a:pt x="0" y="308992"/>
                    <a:pt x="0" y="292122"/>
                  </a:cubicBezTo>
                  <a:lnTo>
                    <a:pt x="0" y="63610"/>
                  </a:lnTo>
                  <a:cubicBezTo>
                    <a:pt x="0" y="46740"/>
                    <a:pt x="6702" y="30560"/>
                    <a:pt x="18631" y="18631"/>
                  </a:cubicBezTo>
                  <a:cubicBezTo>
                    <a:pt x="30560" y="6702"/>
                    <a:pt x="46740" y="0"/>
                    <a:pt x="63610" y="0"/>
                  </a:cubicBezTo>
                  <a:close/>
                </a:path>
              </a:pathLst>
            </a:custGeom>
            <a:solidFill>
              <a:srgbClr val="407709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2211792" cy="3938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763928" y="7291879"/>
            <a:ext cx="1685004" cy="1685004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CFFEE"/>
            </a:solidFill>
            <a:ln w="47625" cap="sq">
              <a:solidFill>
                <a:srgbClr val="407709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1235395" y="7664537"/>
            <a:ext cx="742070" cy="814648"/>
          </a:xfrm>
          <a:custGeom>
            <a:avLst/>
            <a:gdLst/>
            <a:ahLst/>
            <a:cxnLst/>
            <a:rect l="l" t="t" r="r" b="b"/>
            <a:pathLst>
              <a:path w="742070" h="814648">
                <a:moveTo>
                  <a:pt x="0" y="0"/>
                </a:moveTo>
                <a:lnTo>
                  <a:pt x="742070" y="0"/>
                </a:lnTo>
                <a:lnTo>
                  <a:pt x="742070" y="814648"/>
                </a:lnTo>
                <a:lnTo>
                  <a:pt x="0" y="81464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0" name="Group 10"/>
          <p:cNvGrpSpPr/>
          <p:nvPr/>
        </p:nvGrpSpPr>
        <p:grpSpPr>
          <a:xfrm>
            <a:off x="16845603" y="2912835"/>
            <a:ext cx="3455845" cy="3455845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07709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7432992" y="3500224"/>
            <a:ext cx="2281067" cy="2281067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2C11B"/>
            </a:solidFill>
            <a:ln w="428625" cap="sq">
              <a:solidFill>
                <a:srgbClr val="FCFFEE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16" name="Freeform 16"/>
          <p:cNvSpPr/>
          <p:nvPr/>
        </p:nvSpPr>
        <p:spPr>
          <a:xfrm>
            <a:off x="6670850" y="154156"/>
            <a:ext cx="9852943" cy="8368848"/>
          </a:xfrm>
          <a:custGeom>
            <a:avLst/>
            <a:gdLst/>
            <a:ahLst/>
            <a:cxnLst/>
            <a:rect l="l" t="t" r="r" b="b"/>
            <a:pathLst>
              <a:path w="9852943" h="8368848">
                <a:moveTo>
                  <a:pt x="0" y="0"/>
                </a:moveTo>
                <a:lnTo>
                  <a:pt x="9852943" y="0"/>
                </a:lnTo>
                <a:lnTo>
                  <a:pt x="9852943" y="8368847"/>
                </a:lnTo>
                <a:lnTo>
                  <a:pt x="0" y="836884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7" name="TextBox 17"/>
          <p:cNvSpPr txBox="1"/>
          <p:nvPr/>
        </p:nvSpPr>
        <p:spPr>
          <a:xfrm>
            <a:off x="1028700" y="2104001"/>
            <a:ext cx="7711991" cy="8870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79"/>
              </a:lnSpc>
            </a:pPr>
            <a:r>
              <a:rPr lang="en-US" sz="5199" b="1">
                <a:solidFill>
                  <a:srgbClr val="407709"/>
                </a:solidFill>
                <a:latin typeface="Arial Unicode Bold"/>
                <a:ea typeface="Arial Unicode Bold"/>
                <a:cs typeface="Arial Unicode Bold"/>
                <a:sym typeface="Arial Unicode Bold"/>
              </a:rPr>
              <a:t>PROBLEM STATEMENT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028700" y="3867397"/>
            <a:ext cx="7247183" cy="25012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18158" lvl="1" indent="-259079" algn="just">
              <a:lnSpc>
                <a:spcPts val="3359"/>
              </a:lnSpc>
              <a:buFont typeface="Arial"/>
              <a:buChar char="•"/>
            </a:pPr>
            <a:r>
              <a:rPr lang="en-US" sz="2399">
                <a:solidFill>
                  <a:srgbClr val="407709"/>
                </a:solidFill>
                <a:latin typeface="Arial Unicode"/>
                <a:ea typeface="Arial Unicode"/>
                <a:cs typeface="Arial Unicode"/>
                <a:sym typeface="Arial Unicode"/>
              </a:rPr>
              <a:t>Traditional farming relies on manual estimation and fragmented farm, crop, and expense management.</a:t>
            </a:r>
          </a:p>
          <a:p>
            <a:pPr marL="518158" lvl="1" indent="-259079" algn="just">
              <a:lnSpc>
                <a:spcPts val="3359"/>
              </a:lnSpc>
              <a:buFont typeface="Arial"/>
              <a:buChar char="•"/>
            </a:pPr>
            <a:r>
              <a:rPr lang="en-US" sz="2399">
                <a:solidFill>
                  <a:srgbClr val="407709"/>
                </a:solidFill>
                <a:latin typeface="Arial Unicode"/>
                <a:ea typeface="Arial Unicode"/>
                <a:cs typeface="Arial Unicode"/>
                <a:sym typeface="Arial Unicode"/>
              </a:rPr>
              <a:t>Farmers need centralized, data-driven yield prediction and resource planning.</a:t>
            </a:r>
          </a:p>
          <a:p>
            <a:pPr algn="just">
              <a:lnSpc>
                <a:spcPts val="3359"/>
              </a:lnSpc>
            </a:pPr>
            <a:endParaRPr lang="en-US" sz="2399">
              <a:solidFill>
                <a:srgbClr val="407709"/>
              </a:solidFill>
              <a:latin typeface="Arial Unicode"/>
              <a:ea typeface="Arial Unicode"/>
              <a:cs typeface="Arial Unicode"/>
              <a:sym typeface="Arial Unicode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2611019" y="7698132"/>
            <a:ext cx="6882205" cy="8248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399">
                <a:solidFill>
                  <a:srgbClr val="E1F0CF"/>
                </a:solidFill>
                <a:latin typeface="Arial Unicode"/>
                <a:ea typeface="Arial Unicode"/>
                <a:cs typeface="Arial Unicode"/>
                <a:sym typeface="Arial Unicode"/>
              </a:rPr>
              <a:t>Problem requires a integrating farm management, AI-powered yield prediction &amp; resource planning.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F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2566330" y="57312"/>
            <a:ext cx="5721670" cy="3454433"/>
          </a:xfrm>
          <a:custGeom>
            <a:avLst/>
            <a:gdLst/>
            <a:ahLst/>
            <a:cxnLst/>
            <a:rect l="l" t="t" r="r" b="b"/>
            <a:pathLst>
              <a:path w="5721670" h="3454433">
                <a:moveTo>
                  <a:pt x="0" y="0"/>
                </a:moveTo>
                <a:lnTo>
                  <a:pt x="5721670" y="0"/>
                </a:lnTo>
                <a:lnTo>
                  <a:pt x="5721670" y="3454433"/>
                </a:lnTo>
                <a:lnTo>
                  <a:pt x="0" y="345443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6678572" y="2785993"/>
            <a:ext cx="5155013" cy="6472307"/>
            <a:chOff x="0" y="0"/>
            <a:chExt cx="1357699" cy="1704641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357699" cy="1704641"/>
            </a:xfrm>
            <a:custGeom>
              <a:avLst/>
              <a:gdLst/>
              <a:ahLst/>
              <a:cxnLst/>
              <a:rect l="l" t="t" r="r" b="b"/>
              <a:pathLst>
                <a:path w="1357699" h="1704641">
                  <a:moveTo>
                    <a:pt x="40549" y="0"/>
                  </a:moveTo>
                  <a:lnTo>
                    <a:pt x="1317150" y="0"/>
                  </a:lnTo>
                  <a:cubicBezTo>
                    <a:pt x="1327904" y="0"/>
                    <a:pt x="1338218" y="4272"/>
                    <a:pt x="1345822" y="11877"/>
                  </a:cubicBezTo>
                  <a:cubicBezTo>
                    <a:pt x="1353427" y="19481"/>
                    <a:pt x="1357699" y="29795"/>
                    <a:pt x="1357699" y="40549"/>
                  </a:cubicBezTo>
                  <a:lnTo>
                    <a:pt x="1357699" y="1664091"/>
                  </a:lnTo>
                  <a:cubicBezTo>
                    <a:pt x="1357699" y="1686486"/>
                    <a:pt x="1339544" y="1704641"/>
                    <a:pt x="1317150" y="1704641"/>
                  </a:cubicBezTo>
                  <a:lnTo>
                    <a:pt x="40549" y="1704641"/>
                  </a:lnTo>
                  <a:cubicBezTo>
                    <a:pt x="18155" y="1704641"/>
                    <a:pt x="0" y="1686486"/>
                    <a:pt x="0" y="1664091"/>
                  </a:cubicBezTo>
                  <a:lnTo>
                    <a:pt x="0" y="40549"/>
                  </a:lnTo>
                  <a:cubicBezTo>
                    <a:pt x="0" y="18155"/>
                    <a:pt x="18155" y="0"/>
                    <a:pt x="40549" y="0"/>
                  </a:cubicBezTo>
                  <a:close/>
                </a:path>
              </a:pathLst>
            </a:custGeom>
            <a:solidFill>
              <a:srgbClr val="407709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357699" cy="174274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7662900" y="1009672"/>
            <a:ext cx="3186356" cy="3186356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3"/>
              <a:stretch>
                <a:fillRect l="-25046" r="-25046"/>
              </a:stretch>
            </a:blipFill>
            <a:ln w="142875" cap="sq">
              <a:solidFill>
                <a:srgbClr val="82C11B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2104287" y="2785993"/>
            <a:ext cx="5155013" cy="6472307"/>
            <a:chOff x="0" y="0"/>
            <a:chExt cx="1357699" cy="1704641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357699" cy="1704641"/>
            </a:xfrm>
            <a:custGeom>
              <a:avLst/>
              <a:gdLst/>
              <a:ahLst/>
              <a:cxnLst/>
              <a:rect l="l" t="t" r="r" b="b"/>
              <a:pathLst>
                <a:path w="1357699" h="1704641">
                  <a:moveTo>
                    <a:pt x="40549" y="0"/>
                  </a:moveTo>
                  <a:lnTo>
                    <a:pt x="1317150" y="0"/>
                  </a:lnTo>
                  <a:cubicBezTo>
                    <a:pt x="1327904" y="0"/>
                    <a:pt x="1338218" y="4272"/>
                    <a:pt x="1345822" y="11877"/>
                  </a:cubicBezTo>
                  <a:cubicBezTo>
                    <a:pt x="1353427" y="19481"/>
                    <a:pt x="1357699" y="29795"/>
                    <a:pt x="1357699" y="40549"/>
                  </a:cubicBezTo>
                  <a:lnTo>
                    <a:pt x="1357699" y="1664091"/>
                  </a:lnTo>
                  <a:cubicBezTo>
                    <a:pt x="1357699" y="1686486"/>
                    <a:pt x="1339544" y="1704641"/>
                    <a:pt x="1317150" y="1704641"/>
                  </a:cubicBezTo>
                  <a:lnTo>
                    <a:pt x="40549" y="1704641"/>
                  </a:lnTo>
                  <a:cubicBezTo>
                    <a:pt x="18155" y="1704641"/>
                    <a:pt x="0" y="1686486"/>
                    <a:pt x="0" y="1664091"/>
                  </a:cubicBezTo>
                  <a:lnTo>
                    <a:pt x="0" y="40549"/>
                  </a:lnTo>
                  <a:cubicBezTo>
                    <a:pt x="0" y="18155"/>
                    <a:pt x="18155" y="0"/>
                    <a:pt x="40549" y="0"/>
                  </a:cubicBezTo>
                  <a:close/>
                </a:path>
              </a:pathLst>
            </a:custGeom>
            <a:solidFill>
              <a:srgbClr val="407709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1357699" cy="174274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3088615" y="1009672"/>
            <a:ext cx="3186356" cy="3186356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 l="-38888" r="-38888"/>
              </a:stretch>
            </a:blipFill>
            <a:ln w="142875" cap="sq">
              <a:solidFill>
                <a:srgbClr val="82C11B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955375" y="2203860"/>
            <a:ext cx="6634200" cy="13078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36"/>
              </a:lnSpc>
            </a:pPr>
            <a:r>
              <a:rPr lang="en-US" sz="4800" b="1">
                <a:solidFill>
                  <a:srgbClr val="407709"/>
                </a:solidFill>
                <a:latin typeface="Arial Unicode Bold"/>
                <a:ea typeface="Arial Unicode Bold"/>
                <a:cs typeface="Arial Unicode Bold"/>
                <a:sym typeface="Arial Unicode Bold"/>
              </a:rPr>
              <a:t>PROPOSED SOLUTION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12529" y="4075314"/>
            <a:ext cx="4846892" cy="11632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079"/>
              </a:lnSpc>
            </a:pPr>
            <a:r>
              <a:rPr lang="en-US" sz="2199">
                <a:solidFill>
                  <a:srgbClr val="407709"/>
                </a:solidFill>
                <a:latin typeface="Arial Unicode"/>
                <a:ea typeface="Arial Unicode"/>
                <a:cs typeface="Arial Unicode"/>
                <a:sym typeface="Arial Unicode"/>
              </a:rPr>
              <a:t>A smart platform integrating farm management, AI prediction, resource planning, and expense tracking.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154831" y="5296428"/>
            <a:ext cx="3890811" cy="11632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199">
                <a:solidFill>
                  <a:srgbClr val="FCFFEE"/>
                </a:solidFill>
                <a:latin typeface="Arial Unicode"/>
                <a:ea typeface="Arial Unicode"/>
                <a:cs typeface="Arial Unicode"/>
                <a:sym typeface="Arial Unicode"/>
              </a:rPr>
              <a:t>Manage multiple farms and their agricultural details in one centralized system.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589575" y="4424629"/>
            <a:ext cx="3618229" cy="481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b="1">
                <a:solidFill>
                  <a:srgbClr val="FCFFEE"/>
                </a:solidFill>
                <a:latin typeface="Arial Unicode Bold"/>
                <a:ea typeface="Arial Unicode Bold"/>
                <a:cs typeface="Arial Unicode Bold"/>
                <a:sym typeface="Arial Unicode Bold"/>
              </a:rPr>
              <a:t>Farm Management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970719" y="6724060"/>
            <a:ext cx="4295162" cy="23898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96569" lvl="1" indent="-248284" algn="l">
              <a:lnSpc>
                <a:spcPts val="3219"/>
              </a:lnSpc>
              <a:buFont typeface="Arial"/>
              <a:buChar char="•"/>
            </a:pPr>
            <a:r>
              <a:rPr lang="en-US" sz="2299">
                <a:solidFill>
                  <a:srgbClr val="FCFFEE"/>
                </a:solidFill>
                <a:latin typeface="Arial Unicode"/>
                <a:ea typeface="Arial Unicode"/>
                <a:cs typeface="Arial Unicode"/>
                <a:sym typeface="Arial Unicode"/>
              </a:rPr>
              <a:t>Store area, location, and soil information.</a:t>
            </a:r>
          </a:p>
          <a:p>
            <a:pPr algn="l">
              <a:lnSpc>
                <a:spcPts val="3219"/>
              </a:lnSpc>
            </a:pPr>
            <a:endParaRPr lang="en-US" sz="2299">
              <a:solidFill>
                <a:srgbClr val="FCFFEE"/>
              </a:solidFill>
              <a:latin typeface="Arial Unicode"/>
              <a:ea typeface="Arial Unicode"/>
              <a:cs typeface="Arial Unicode"/>
              <a:sym typeface="Arial Unicode"/>
            </a:endParaRPr>
          </a:p>
          <a:p>
            <a:pPr marL="496569" lvl="1" indent="-248284" algn="l">
              <a:lnSpc>
                <a:spcPts val="3219"/>
              </a:lnSpc>
              <a:buFont typeface="Arial"/>
              <a:buChar char="•"/>
            </a:pPr>
            <a:r>
              <a:rPr lang="en-US" sz="2299">
                <a:solidFill>
                  <a:srgbClr val="FCFFEE"/>
                </a:solidFill>
                <a:latin typeface="Arial Unicode"/>
                <a:ea typeface="Arial Unicode"/>
                <a:cs typeface="Arial Unicode"/>
                <a:sym typeface="Arial Unicode"/>
              </a:rPr>
              <a:t>Manage crops cultivated in each farm</a:t>
            </a:r>
          </a:p>
          <a:p>
            <a:pPr algn="l">
              <a:lnSpc>
                <a:spcPts val="3219"/>
              </a:lnSpc>
            </a:pPr>
            <a:endParaRPr lang="en-US" sz="2299">
              <a:solidFill>
                <a:srgbClr val="FCFFEE"/>
              </a:solidFill>
              <a:latin typeface="Arial Unicode"/>
              <a:ea typeface="Arial Unicode"/>
              <a:cs typeface="Arial Unicode"/>
              <a:sym typeface="Arial Unicode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12652735" y="5296428"/>
            <a:ext cx="4172632" cy="11632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199">
                <a:solidFill>
                  <a:srgbClr val="FCFFEE"/>
                </a:solidFill>
                <a:latin typeface="Arial Unicode"/>
                <a:ea typeface="Arial Unicode"/>
                <a:cs typeface="Arial Unicode"/>
                <a:sym typeface="Arial Unicode"/>
              </a:rPr>
              <a:t>Use AI-powered predictions to support better cultivation planning..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2566330" y="4500789"/>
            <a:ext cx="4602557" cy="481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b="1">
                <a:solidFill>
                  <a:srgbClr val="FCFFEE"/>
                </a:solidFill>
                <a:latin typeface="Arial Unicode Bold"/>
                <a:ea typeface="Arial Unicode Bold"/>
                <a:cs typeface="Arial Unicode Bold"/>
                <a:sym typeface="Arial Unicode Bold"/>
              </a:rPr>
              <a:t>AI &amp; Resource Planning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2566330" y="6724060"/>
            <a:ext cx="4295162" cy="19897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96569" lvl="1" indent="-248284" algn="l">
              <a:lnSpc>
                <a:spcPts val="3219"/>
              </a:lnSpc>
              <a:buFont typeface="Arial"/>
              <a:buChar char="•"/>
            </a:pPr>
            <a:r>
              <a:rPr lang="en-US" sz="2299">
                <a:solidFill>
                  <a:srgbClr val="FCFFEE"/>
                </a:solidFill>
                <a:latin typeface="Arial Unicode"/>
                <a:ea typeface="Arial Unicode"/>
                <a:cs typeface="Arial Unicode"/>
                <a:sym typeface="Arial Unicode"/>
              </a:rPr>
              <a:t>Estimate water, fertilizer requirements etc</a:t>
            </a:r>
          </a:p>
          <a:p>
            <a:pPr algn="l">
              <a:lnSpc>
                <a:spcPts val="3219"/>
              </a:lnSpc>
            </a:pPr>
            <a:endParaRPr lang="en-US" sz="2299">
              <a:solidFill>
                <a:srgbClr val="FCFFEE"/>
              </a:solidFill>
              <a:latin typeface="Arial Unicode"/>
              <a:ea typeface="Arial Unicode"/>
              <a:cs typeface="Arial Unicode"/>
              <a:sym typeface="Arial Unicode"/>
            </a:endParaRPr>
          </a:p>
          <a:p>
            <a:pPr marL="496569" lvl="1" indent="-248284" algn="l">
              <a:lnSpc>
                <a:spcPts val="3219"/>
              </a:lnSpc>
              <a:buFont typeface="Arial"/>
              <a:buChar char="•"/>
            </a:pPr>
            <a:r>
              <a:rPr lang="en-US" sz="2299">
                <a:solidFill>
                  <a:srgbClr val="FCFFEE"/>
                </a:solidFill>
                <a:latin typeface="Arial Unicode"/>
                <a:ea typeface="Arial Unicode"/>
                <a:cs typeface="Arial Unicode"/>
                <a:sym typeface="Arial Unicode"/>
              </a:rPr>
              <a:t>Recommend fertilizer and pesticide quantities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012529" y="7498057"/>
            <a:ext cx="4641569" cy="15537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199">
                <a:solidFill>
                  <a:srgbClr val="407709"/>
                </a:solidFill>
                <a:latin typeface="Arial Unicode"/>
                <a:ea typeface="Arial Unicode"/>
                <a:cs typeface="Arial Unicode"/>
                <a:sym typeface="Arial Unicode"/>
              </a:rPr>
              <a:t>Helps farmers use crop data to estimate yield and plan required resources.</a:t>
            </a:r>
          </a:p>
          <a:p>
            <a:pPr algn="l">
              <a:lnSpc>
                <a:spcPts val="3079"/>
              </a:lnSpc>
            </a:pPr>
            <a:endParaRPr lang="en-US" sz="2199">
              <a:solidFill>
                <a:srgbClr val="407709"/>
              </a:solidFill>
              <a:latin typeface="Arial Unicode"/>
              <a:ea typeface="Arial Unicode"/>
              <a:cs typeface="Arial Unicode"/>
              <a:sym typeface="Arial Unicode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1028700" y="6654754"/>
            <a:ext cx="4641569" cy="481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b="1">
                <a:solidFill>
                  <a:srgbClr val="407709"/>
                </a:solidFill>
                <a:latin typeface="Arial Unicode Bold"/>
                <a:ea typeface="Arial Unicode Bold"/>
                <a:cs typeface="Arial Unicode Bold"/>
                <a:sym typeface="Arial Unicode Bold"/>
              </a:rPr>
              <a:t>Why this Solution?</a:t>
            </a:r>
          </a:p>
        </p:txBody>
      </p:sp>
      <p:sp>
        <p:nvSpPr>
          <p:cNvPr id="23" name="AutoShape 23"/>
          <p:cNvSpPr/>
          <p:nvPr/>
        </p:nvSpPr>
        <p:spPr>
          <a:xfrm>
            <a:off x="955375" y="6041196"/>
            <a:ext cx="4698724" cy="0"/>
          </a:xfrm>
          <a:prstGeom prst="line">
            <a:avLst/>
          </a:prstGeom>
          <a:ln w="38100" cap="flat">
            <a:solidFill>
              <a:srgbClr val="40770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24" name="Group 24"/>
          <p:cNvGrpSpPr/>
          <p:nvPr/>
        </p:nvGrpSpPr>
        <p:grpSpPr>
          <a:xfrm>
            <a:off x="1621562" y="-1727922"/>
            <a:ext cx="3455845" cy="3455845"/>
            <a:chOff x="0" y="0"/>
            <a:chExt cx="812800" cy="81280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07709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2208951" y="-1140533"/>
            <a:ext cx="2281067" cy="2281067"/>
            <a:chOff x="0" y="0"/>
            <a:chExt cx="812800" cy="81280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2C11B"/>
            </a:solidFill>
            <a:ln w="428625" cap="sq">
              <a:solidFill>
                <a:srgbClr val="FCFFEE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F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flipV="1">
            <a:off x="1028700" y="6305320"/>
            <a:ext cx="4564009" cy="0"/>
          </a:xfrm>
          <a:prstGeom prst="line">
            <a:avLst/>
          </a:prstGeom>
          <a:ln w="38100" cap="flat">
            <a:solidFill>
              <a:srgbClr val="40770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" name="AutoShape 3"/>
          <p:cNvSpPr/>
          <p:nvPr/>
        </p:nvSpPr>
        <p:spPr>
          <a:xfrm flipV="1">
            <a:off x="12804636" y="6324370"/>
            <a:ext cx="4440930" cy="19050"/>
          </a:xfrm>
          <a:prstGeom prst="line">
            <a:avLst/>
          </a:prstGeom>
          <a:ln w="38100" cap="flat">
            <a:solidFill>
              <a:srgbClr val="40770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AutoShape 4"/>
          <p:cNvSpPr/>
          <p:nvPr/>
        </p:nvSpPr>
        <p:spPr>
          <a:xfrm>
            <a:off x="1028700" y="9639207"/>
            <a:ext cx="4564009" cy="0"/>
          </a:xfrm>
          <a:prstGeom prst="line">
            <a:avLst/>
          </a:prstGeom>
          <a:ln w="38100" cap="flat">
            <a:solidFill>
              <a:srgbClr val="40770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" name="AutoShape 5"/>
          <p:cNvSpPr/>
          <p:nvPr/>
        </p:nvSpPr>
        <p:spPr>
          <a:xfrm>
            <a:off x="12818422" y="9658257"/>
            <a:ext cx="4427225" cy="12123"/>
          </a:xfrm>
          <a:prstGeom prst="line">
            <a:avLst/>
          </a:prstGeom>
          <a:ln w="38100" cap="flat">
            <a:solidFill>
              <a:srgbClr val="40770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6" name="Group 6"/>
          <p:cNvGrpSpPr/>
          <p:nvPr/>
        </p:nvGrpSpPr>
        <p:grpSpPr>
          <a:xfrm>
            <a:off x="1612954" y="-1727922"/>
            <a:ext cx="3455845" cy="3455845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07709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2200343" y="-977474"/>
            <a:ext cx="2281067" cy="2281067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2C11B"/>
            </a:solidFill>
            <a:ln w="428625" cap="sq">
              <a:solidFill>
                <a:srgbClr val="FCFFEE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2818370" y="-1727922"/>
            <a:ext cx="3455845" cy="3455845"/>
            <a:chOff x="0" y="0"/>
            <a:chExt cx="812800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07709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3405759" y="-1011072"/>
            <a:ext cx="2281067" cy="2281067"/>
            <a:chOff x="0" y="0"/>
            <a:chExt cx="812800" cy="8128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2C11B"/>
            </a:solidFill>
            <a:ln w="428625" cap="sq">
              <a:solidFill>
                <a:srgbClr val="FCFFEE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6520815" y="3835167"/>
            <a:ext cx="5688352" cy="5688352"/>
            <a:chOff x="0" y="0"/>
            <a:chExt cx="812800" cy="8128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1028700" y="4204094"/>
            <a:ext cx="4882515" cy="15537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199">
                <a:solidFill>
                  <a:srgbClr val="407709"/>
                </a:solidFill>
                <a:latin typeface="Arial Unicode"/>
                <a:ea typeface="Arial Unicode"/>
                <a:cs typeface="Arial Unicode"/>
                <a:sym typeface="Arial Unicode"/>
              </a:rPr>
              <a:t>Centralize farm and crop details for efficient and organized agricultural management.</a:t>
            </a:r>
          </a:p>
          <a:p>
            <a:pPr algn="l">
              <a:lnSpc>
                <a:spcPts val="3079"/>
              </a:lnSpc>
            </a:pPr>
            <a:endParaRPr lang="en-US" sz="2199">
              <a:solidFill>
                <a:srgbClr val="407709"/>
              </a:solidFill>
              <a:latin typeface="Arial Unicode"/>
              <a:ea typeface="Arial Unicode"/>
              <a:cs typeface="Arial Unicode"/>
              <a:sym typeface="Arial Unicode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1028700" y="3353814"/>
            <a:ext cx="4882515" cy="481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b="1">
                <a:solidFill>
                  <a:srgbClr val="407709"/>
                </a:solidFill>
                <a:latin typeface="Arial Unicode Bold"/>
                <a:ea typeface="Arial Unicode Bold"/>
                <a:cs typeface="Arial Unicode Bold"/>
                <a:sym typeface="Arial Unicode Bold"/>
              </a:rPr>
              <a:t>Smart Farm Management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4465599" y="1828543"/>
            <a:ext cx="10080693" cy="8870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79"/>
              </a:lnSpc>
            </a:pPr>
            <a:r>
              <a:rPr lang="en-US" sz="5199" b="1">
                <a:solidFill>
                  <a:srgbClr val="407709"/>
                </a:solidFill>
                <a:latin typeface="Arial Unicode Bold"/>
                <a:ea typeface="Arial Unicode Bold"/>
                <a:cs typeface="Arial Unicode Bold"/>
                <a:sym typeface="Arial Unicode Bold"/>
              </a:rPr>
              <a:t>OBJECTIVE OF THE PROJECT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2818370" y="4204094"/>
            <a:ext cx="4926604" cy="16630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399">
                <a:solidFill>
                  <a:srgbClr val="407709"/>
                </a:solidFill>
                <a:latin typeface="Arial Unicode"/>
                <a:ea typeface="Arial Unicode"/>
                <a:cs typeface="Arial Unicode"/>
                <a:sym typeface="Arial Unicode"/>
              </a:rPr>
              <a:t>Predict essential water, fertilizer, pesticide, and tractor requirements for efficient resource planning.</a:t>
            </a:r>
          </a:p>
          <a:p>
            <a:pPr algn="l">
              <a:lnSpc>
                <a:spcPts val="3359"/>
              </a:lnSpc>
            </a:pPr>
            <a:endParaRPr lang="en-US" sz="2399">
              <a:solidFill>
                <a:srgbClr val="407709"/>
              </a:solidFill>
              <a:latin typeface="Arial Unicode"/>
              <a:ea typeface="Arial Unicode"/>
              <a:cs typeface="Arial Unicode"/>
              <a:sym typeface="Arial Unicode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12818370" y="3353814"/>
            <a:ext cx="5469630" cy="481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b="1">
                <a:solidFill>
                  <a:srgbClr val="407709"/>
                </a:solidFill>
                <a:latin typeface="Arial Unicode Bold"/>
                <a:ea typeface="Arial Unicode Bold"/>
                <a:cs typeface="Arial Unicode Bold"/>
                <a:sym typeface="Arial Unicode Bold"/>
              </a:rPr>
              <a:t>Precision Resource Planning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028700" y="7678510"/>
            <a:ext cx="4564009" cy="15537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199">
                <a:solidFill>
                  <a:srgbClr val="407709"/>
                </a:solidFill>
                <a:latin typeface="Arial Unicode"/>
                <a:ea typeface="Arial Unicode"/>
                <a:cs typeface="Arial Unicode"/>
                <a:sym typeface="Arial Unicode"/>
              </a:rPr>
              <a:t>Use AI to predict crop yield from soil, area, and cultivation details for better planning.</a:t>
            </a:r>
          </a:p>
          <a:p>
            <a:pPr algn="l">
              <a:lnSpc>
                <a:spcPts val="3079"/>
              </a:lnSpc>
            </a:pPr>
            <a:endParaRPr lang="en-US" sz="2199">
              <a:solidFill>
                <a:srgbClr val="407709"/>
              </a:solidFill>
              <a:latin typeface="Arial Unicode"/>
              <a:ea typeface="Arial Unicode"/>
              <a:cs typeface="Arial Unicode"/>
              <a:sym typeface="Arial Unicode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1028700" y="6962545"/>
            <a:ext cx="4882515" cy="481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b="1">
                <a:solidFill>
                  <a:srgbClr val="407709"/>
                </a:solidFill>
                <a:latin typeface="Arial Unicode Bold"/>
                <a:ea typeface="Arial Unicode Bold"/>
                <a:cs typeface="Arial Unicode Bold"/>
                <a:sym typeface="Arial Unicode Bold"/>
              </a:rPr>
              <a:t>AI-Based Yield Prediction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2846939" y="7678510"/>
            <a:ext cx="4898035" cy="11632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199">
                <a:solidFill>
                  <a:srgbClr val="407709"/>
                </a:solidFill>
                <a:latin typeface="Arial Unicode"/>
                <a:ea typeface="Arial Unicode"/>
                <a:cs typeface="Arial Unicode"/>
                <a:sym typeface="Arial Unicode"/>
              </a:rPr>
              <a:t>Calculate cultivation expenses using predicted resource requirements and unit prices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2804718" y="6686320"/>
            <a:ext cx="4440930" cy="481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b="1">
                <a:solidFill>
                  <a:srgbClr val="407709"/>
                </a:solidFill>
                <a:latin typeface="Arial Unicode Bold"/>
                <a:ea typeface="Arial Unicode Bold"/>
                <a:cs typeface="Arial Unicode Bold"/>
                <a:sym typeface="Arial Unicode Bold"/>
              </a:rPr>
              <a:t>Expense Management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F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985971" y="-600588"/>
            <a:ext cx="11488175" cy="11488175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l="-31360" r="-31360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6408970" y="2202566"/>
            <a:ext cx="5300432" cy="3299227"/>
            <a:chOff x="0" y="0"/>
            <a:chExt cx="1395999" cy="868932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395999" cy="868932"/>
            </a:xfrm>
            <a:custGeom>
              <a:avLst/>
              <a:gdLst/>
              <a:ahLst/>
              <a:cxnLst/>
              <a:rect l="l" t="t" r="r" b="b"/>
              <a:pathLst>
                <a:path w="1395999" h="868932">
                  <a:moveTo>
                    <a:pt x="48200" y="0"/>
                  </a:moveTo>
                  <a:lnTo>
                    <a:pt x="1347798" y="0"/>
                  </a:lnTo>
                  <a:cubicBezTo>
                    <a:pt x="1360582" y="0"/>
                    <a:pt x="1372842" y="5078"/>
                    <a:pt x="1381881" y="14118"/>
                  </a:cubicBezTo>
                  <a:cubicBezTo>
                    <a:pt x="1390920" y="23157"/>
                    <a:pt x="1395999" y="35417"/>
                    <a:pt x="1395999" y="48200"/>
                  </a:cubicBezTo>
                  <a:lnTo>
                    <a:pt x="1395999" y="820732"/>
                  </a:lnTo>
                  <a:cubicBezTo>
                    <a:pt x="1395999" y="847352"/>
                    <a:pt x="1374419" y="868932"/>
                    <a:pt x="1347798" y="868932"/>
                  </a:cubicBezTo>
                  <a:lnTo>
                    <a:pt x="48200" y="868932"/>
                  </a:lnTo>
                  <a:cubicBezTo>
                    <a:pt x="35417" y="868932"/>
                    <a:pt x="23157" y="863854"/>
                    <a:pt x="14118" y="854815"/>
                  </a:cubicBezTo>
                  <a:cubicBezTo>
                    <a:pt x="5078" y="845775"/>
                    <a:pt x="0" y="833515"/>
                    <a:pt x="0" y="820732"/>
                  </a:cubicBezTo>
                  <a:lnTo>
                    <a:pt x="0" y="48200"/>
                  </a:lnTo>
                  <a:cubicBezTo>
                    <a:pt x="0" y="21580"/>
                    <a:pt x="21580" y="0"/>
                    <a:pt x="48200" y="0"/>
                  </a:cubicBezTo>
                  <a:close/>
                </a:path>
              </a:pathLst>
            </a:custGeom>
            <a:solidFill>
              <a:srgbClr val="FCFFEE"/>
            </a:solidFill>
            <a:ln w="28575" cap="rnd">
              <a:solidFill>
                <a:srgbClr val="407709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1395999" cy="9070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028700" y="3814079"/>
            <a:ext cx="4793148" cy="14707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407709"/>
                </a:solidFill>
                <a:latin typeface="Arial Unicode"/>
                <a:ea typeface="Arial Unicode"/>
                <a:cs typeface="Arial Unicode"/>
                <a:sym typeface="Arial Unicode"/>
              </a:rPr>
              <a:t>The platform combines modern full-stack, database, security, and AI technologies to provide a reliable and intelligent solution for farm operations.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11958868" y="2202566"/>
            <a:ext cx="5300432" cy="3299227"/>
            <a:chOff x="0" y="0"/>
            <a:chExt cx="1395999" cy="868932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395999" cy="868932"/>
            </a:xfrm>
            <a:custGeom>
              <a:avLst/>
              <a:gdLst/>
              <a:ahLst/>
              <a:cxnLst/>
              <a:rect l="l" t="t" r="r" b="b"/>
              <a:pathLst>
                <a:path w="1395999" h="868932">
                  <a:moveTo>
                    <a:pt x="48200" y="0"/>
                  </a:moveTo>
                  <a:lnTo>
                    <a:pt x="1347798" y="0"/>
                  </a:lnTo>
                  <a:cubicBezTo>
                    <a:pt x="1360582" y="0"/>
                    <a:pt x="1372842" y="5078"/>
                    <a:pt x="1381881" y="14118"/>
                  </a:cubicBezTo>
                  <a:cubicBezTo>
                    <a:pt x="1390920" y="23157"/>
                    <a:pt x="1395999" y="35417"/>
                    <a:pt x="1395999" y="48200"/>
                  </a:cubicBezTo>
                  <a:lnTo>
                    <a:pt x="1395999" y="820732"/>
                  </a:lnTo>
                  <a:cubicBezTo>
                    <a:pt x="1395999" y="847352"/>
                    <a:pt x="1374419" y="868932"/>
                    <a:pt x="1347798" y="868932"/>
                  </a:cubicBezTo>
                  <a:lnTo>
                    <a:pt x="48200" y="868932"/>
                  </a:lnTo>
                  <a:cubicBezTo>
                    <a:pt x="35417" y="868932"/>
                    <a:pt x="23157" y="863854"/>
                    <a:pt x="14118" y="854815"/>
                  </a:cubicBezTo>
                  <a:cubicBezTo>
                    <a:pt x="5078" y="845775"/>
                    <a:pt x="0" y="833515"/>
                    <a:pt x="0" y="820732"/>
                  </a:cubicBezTo>
                  <a:lnTo>
                    <a:pt x="0" y="48200"/>
                  </a:lnTo>
                  <a:cubicBezTo>
                    <a:pt x="0" y="21580"/>
                    <a:pt x="21580" y="0"/>
                    <a:pt x="48200" y="0"/>
                  </a:cubicBezTo>
                  <a:close/>
                </a:path>
              </a:pathLst>
            </a:custGeom>
            <a:solidFill>
              <a:srgbClr val="FCFFEE"/>
            </a:solidFill>
            <a:ln w="28575" cap="rnd">
              <a:solidFill>
                <a:srgbClr val="407709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1395999" cy="9070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408970" y="5682767"/>
            <a:ext cx="5300432" cy="3299227"/>
            <a:chOff x="0" y="0"/>
            <a:chExt cx="1395999" cy="868932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395999" cy="868932"/>
            </a:xfrm>
            <a:custGeom>
              <a:avLst/>
              <a:gdLst/>
              <a:ahLst/>
              <a:cxnLst/>
              <a:rect l="l" t="t" r="r" b="b"/>
              <a:pathLst>
                <a:path w="1395999" h="868932">
                  <a:moveTo>
                    <a:pt x="48200" y="0"/>
                  </a:moveTo>
                  <a:lnTo>
                    <a:pt x="1347798" y="0"/>
                  </a:lnTo>
                  <a:cubicBezTo>
                    <a:pt x="1360582" y="0"/>
                    <a:pt x="1372842" y="5078"/>
                    <a:pt x="1381881" y="14118"/>
                  </a:cubicBezTo>
                  <a:cubicBezTo>
                    <a:pt x="1390920" y="23157"/>
                    <a:pt x="1395999" y="35417"/>
                    <a:pt x="1395999" y="48200"/>
                  </a:cubicBezTo>
                  <a:lnTo>
                    <a:pt x="1395999" y="820732"/>
                  </a:lnTo>
                  <a:cubicBezTo>
                    <a:pt x="1395999" y="847352"/>
                    <a:pt x="1374419" y="868932"/>
                    <a:pt x="1347798" y="868932"/>
                  </a:cubicBezTo>
                  <a:lnTo>
                    <a:pt x="48200" y="868932"/>
                  </a:lnTo>
                  <a:cubicBezTo>
                    <a:pt x="35417" y="868932"/>
                    <a:pt x="23157" y="863854"/>
                    <a:pt x="14118" y="854815"/>
                  </a:cubicBezTo>
                  <a:cubicBezTo>
                    <a:pt x="5078" y="845775"/>
                    <a:pt x="0" y="833515"/>
                    <a:pt x="0" y="820732"/>
                  </a:cubicBezTo>
                  <a:lnTo>
                    <a:pt x="0" y="48200"/>
                  </a:lnTo>
                  <a:cubicBezTo>
                    <a:pt x="0" y="21580"/>
                    <a:pt x="21580" y="0"/>
                    <a:pt x="48200" y="0"/>
                  </a:cubicBezTo>
                  <a:close/>
                </a:path>
              </a:pathLst>
            </a:custGeom>
            <a:solidFill>
              <a:srgbClr val="407709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1395999" cy="9070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1958868" y="5682767"/>
            <a:ext cx="5300432" cy="3299227"/>
            <a:chOff x="0" y="0"/>
            <a:chExt cx="1395999" cy="868932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395999" cy="868932"/>
            </a:xfrm>
            <a:custGeom>
              <a:avLst/>
              <a:gdLst/>
              <a:ahLst/>
              <a:cxnLst/>
              <a:rect l="l" t="t" r="r" b="b"/>
              <a:pathLst>
                <a:path w="1395999" h="868932">
                  <a:moveTo>
                    <a:pt x="48200" y="0"/>
                  </a:moveTo>
                  <a:lnTo>
                    <a:pt x="1347798" y="0"/>
                  </a:lnTo>
                  <a:cubicBezTo>
                    <a:pt x="1360582" y="0"/>
                    <a:pt x="1372842" y="5078"/>
                    <a:pt x="1381881" y="14118"/>
                  </a:cubicBezTo>
                  <a:cubicBezTo>
                    <a:pt x="1390920" y="23157"/>
                    <a:pt x="1395999" y="35417"/>
                    <a:pt x="1395999" y="48200"/>
                  </a:cubicBezTo>
                  <a:lnTo>
                    <a:pt x="1395999" y="820732"/>
                  </a:lnTo>
                  <a:cubicBezTo>
                    <a:pt x="1395999" y="847352"/>
                    <a:pt x="1374419" y="868932"/>
                    <a:pt x="1347798" y="868932"/>
                  </a:cubicBezTo>
                  <a:lnTo>
                    <a:pt x="48200" y="868932"/>
                  </a:lnTo>
                  <a:cubicBezTo>
                    <a:pt x="35417" y="868932"/>
                    <a:pt x="23157" y="863854"/>
                    <a:pt x="14118" y="854815"/>
                  </a:cubicBezTo>
                  <a:cubicBezTo>
                    <a:pt x="5078" y="845775"/>
                    <a:pt x="0" y="833515"/>
                    <a:pt x="0" y="820732"/>
                  </a:cubicBezTo>
                  <a:lnTo>
                    <a:pt x="0" y="48200"/>
                  </a:lnTo>
                  <a:cubicBezTo>
                    <a:pt x="0" y="21580"/>
                    <a:pt x="21580" y="0"/>
                    <a:pt x="48200" y="0"/>
                  </a:cubicBezTo>
                  <a:close/>
                </a:path>
              </a:pathLst>
            </a:custGeom>
            <a:solidFill>
              <a:srgbClr val="FCFFEE"/>
            </a:solidFill>
            <a:ln w="28575" cap="rnd">
              <a:solidFill>
                <a:srgbClr val="407709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1395999" cy="9070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grpSp>
        <p:nvGrpSpPr>
          <p:cNvPr id="17" name="Group 17"/>
          <p:cNvGrpSpPr>
            <a:grpSpLocks noChangeAspect="1"/>
          </p:cNvGrpSpPr>
          <p:nvPr/>
        </p:nvGrpSpPr>
        <p:grpSpPr>
          <a:xfrm rot="8598963">
            <a:off x="170159" y="5274637"/>
            <a:ext cx="4008249" cy="7967326"/>
            <a:chOff x="0" y="0"/>
            <a:chExt cx="3198876" cy="6358509"/>
          </a:xfrm>
        </p:grpSpPr>
        <p:sp>
          <p:nvSpPr>
            <p:cNvPr id="18" name="Freeform 18"/>
            <p:cNvSpPr/>
            <p:nvPr/>
          </p:nvSpPr>
          <p:spPr>
            <a:xfrm>
              <a:off x="3937" y="3937"/>
              <a:ext cx="3191129" cy="6350635"/>
            </a:xfrm>
            <a:custGeom>
              <a:avLst/>
              <a:gdLst/>
              <a:ahLst/>
              <a:cxnLst/>
              <a:rect l="l" t="t" r="r" b="b"/>
              <a:pathLst>
                <a:path w="3191129" h="6350635">
                  <a:moveTo>
                    <a:pt x="3175254" y="0"/>
                  </a:moveTo>
                  <a:cubicBezTo>
                    <a:pt x="1421638" y="0"/>
                    <a:pt x="0" y="1421638"/>
                    <a:pt x="0" y="3175254"/>
                  </a:cubicBezTo>
                  <a:cubicBezTo>
                    <a:pt x="0" y="4928870"/>
                    <a:pt x="1421638" y="6350635"/>
                    <a:pt x="3175381" y="6350635"/>
                  </a:cubicBezTo>
                  <a:lnTo>
                    <a:pt x="3191129" y="4412361"/>
                  </a:lnTo>
                  <a:cubicBezTo>
                    <a:pt x="2512822" y="4412361"/>
                    <a:pt x="1963039" y="3862578"/>
                    <a:pt x="1963039" y="3184271"/>
                  </a:cubicBezTo>
                  <a:cubicBezTo>
                    <a:pt x="1963039" y="2505964"/>
                    <a:pt x="2512822" y="1956181"/>
                    <a:pt x="3191129" y="1956181"/>
                  </a:cubicBezTo>
                  <a:lnTo>
                    <a:pt x="3175254" y="0"/>
                  </a:lnTo>
                  <a:close/>
                </a:path>
              </a:pathLst>
            </a:custGeom>
            <a:blipFill>
              <a:blip r:embed="rId3"/>
              <a:stretch>
                <a:fillRect l="-99350" r="-99350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19"/>
            <p:cNvSpPr/>
            <p:nvPr/>
          </p:nvSpPr>
          <p:spPr>
            <a:xfrm>
              <a:off x="0" y="0"/>
              <a:ext cx="3198749" cy="6358509"/>
            </a:xfrm>
            <a:custGeom>
              <a:avLst/>
              <a:gdLst/>
              <a:ahLst/>
              <a:cxnLst/>
              <a:rect l="l" t="t" r="r" b="b"/>
              <a:pathLst>
                <a:path w="3198749" h="6358509">
                  <a:moveTo>
                    <a:pt x="3183128" y="6358509"/>
                  </a:moveTo>
                  <a:lnTo>
                    <a:pt x="3179318" y="6358509"/>
                  </a:lnTo>
                  <a:cubicBezTo>
                    <a:pt x="2750185" y="6358509"/>
                    <a:pt x="2333752" y="6274435"/>
                    <a:pt x="1941830" y="6108700"/>
                  </a:cubicBezTo>
                  <a:cubicBezTo>
                    <a:pt x="1563243" y="5948553"/>
                    <a:pt x="1223264" y="5719318"/>
                    <a:pt x="931291" y="5427345"/>
                  </a:cubicBezTo>
                  <a:cubicBezTo>
                    <a:pt x="639318" y="5135372"/>
                    <a:pt x="410083" y="4795393"/>
                    <a:pt x="249936" y="4416806"/>
                  </a:cubicBezTo>
                  <a:cubicBezTo>
                    <a:pt x="84074" y="4024757"/>
                    <a:pt x="0" y="3608451"/>
                    <a:pt x="0" y="3179191"/>
                  </a:cubicBezTo>
                  <a:cubicBezTo>
                    <a:pt x="0" y="2749931"/>
                    <a:pt x="84074" y="2333625"/>
                    <a:pt x="249809" y="1941703"/>
                  </a:cubicBezTo>
                  <a:cubicBezTo>
                    <a:pt x="409956" y="1563116"/>
                    <a:pt x="639191" y="1223137"/>
                    <a:pt x="931164" y="931164"/>
                  </a:cubicBezTo>
                  <a:cubicBezTo>
                    <a:pt x="1223137" y="639191"/>
                    <a:pt x="1563116" y="409956"/>
                    <a:pt x="1941703" y="249809"/>
                  </a:cubicBezTo>
                  <a:cubicBezTo>
                    <a:pt x="2333625" y="84074"/>
                    <a:pt x="2750058" y="0"/>
                    <a:pt x="3179191" y="0"/>
                  </a:cubicBezTo>
                  <a:lnTo>
                    <a:pt x="3183001" y="0"/>
                  </a:lnTo>
                  <a:lnTo>
                    <a:pt x="3183001" y="3810"/>
                  </a:lnTo>
                  <a:lnTo>
                    <a:pt x="3198749" y="1964055"/>
                  </a:lnTo>
                  <a:lnTo>
                    <a:pt x="3194812" y="1964055"/>
                  </a:lnTo>
                  <a:cubicBezTo>
                    <a:pt x="2867787" y="1964055"/>
                    <a:pt x="2560320" y="2091436"/>
                    <a:pt x="2329180" y="2322576"/>
                  </a:cubicBezTo>
                  <a:cubicBezTo>
                    <a:pt x="2097913" y="2553843"/>
                    <a:pt x="1970659" y="2861183"/>
                    <a:pt x="1970659" y="3188208"/>
                  </a:cubicBezTo>
                  <a:cubicBezTo>
                    <a:pt x="1970659" y="3515233"/>
                    <a:pt x="2098040" y="3822700"/>
                    <a:pt x="2329180" y="4053840"/>
                  </a:cubicBezTo>
                  <a:cubicBezTo>
                    <a:pt x="2560447" y="4285107"/>
                    <a:pt x="2867787" y="4412361"/>
                    <a:pt x="3194812" y="4412361"/>
                  </a:cubicBezTo>
                  <a:lnTo>
                    <a:pt x="3198749" y="4412361"/>
                  </a:lnTo>
                  <a:lnTo>
                    <a:pt x="3198749" y="4416298"/>
                  </a:lnTo>
                  <a:lnTo>
                    <a:pt x="3183128" y="6358509"/>
                  </a:lnTo>
                  <a:close/>
                  <a:moveTo>
                    <a:pt x="3175381" y="7747"/>
                  </a:moveTo>
                  <a:cubicBezTo>
                    <a:pt x="2748534" y="8255"/>
                    <a:pt x="2334514" y="92075"/>
                    <a:pt x="1944751" y="256921"/>
                  </a:cubicBezTo>
                  <a:cubicBezTo>
                    <a:pt x="1567053" y="416687"/>
                    <a:pt x="1227963" y="645287"/>
                    <a:pt x="936625" y="936625"/>
                  </a:cubicBezTo>
                  <a:cubicBezTo>
                    <a:pt x="645414" y="1227836"/>
                    <a:pt x="416687" y="1567053"/>
                    <a:pt x="256921" y="1944751"/>
                  </a:cubicBezTo>
                  <a:cubicBezTo>
                    <a:pt x="91567" y="2335784"/>
                    <a:pt x="7747" y="2751074"/>
                    <a:pt x="7747" y="3179191"/>
                  </a:cubicBezTo>
                  <a:cubicBezTo>
                    <a:pt x="7747" y="3607308"/>
                    <a:pt x="91567" y="4022725"/>
                    <a:pt x="256921" y="4413631"/>
                  </a:cubicBezTo>
                  <a:cubicBezTo>
                    <a:pt x="416687" y="4791329"/>
                    <a:pt x="645287" y="5130419"/>
                    <a:pt x="936625" y="5421757"/>
                  </a:cubicBezTo>
                  <a:cubicBezTo>
                    <a:pt x="1227836" y="5712968"/>
                    <a:pt x="1567053" y="5941695"/>
                    <a:pt x="1944751" y="6101461"/>
                  </a:cubicBezTo>
                  <a:cubicBezTo>
                    <a:pt x="2334514" y="6266307"/>
                    <a:pt x="2748534" y="6350127"/>
                    <a:pt x="3175381" y="6350635"/>
                  </a:cubicBezTo>
                  <a:lnTo>
                    <a:pt x="3191129" y="4420108"/>
                  </a:lnTo>
                  <a:cubicBezTo>
                    <a:pt x="2863469" y="4419092"/>
                    <a:pt x="2555621" y="4291076"/>
                    <a:pt x="2323846" y="4059301"/>
                  </a:cubicBezTo>
                  <a:cubicBezTo>
                    <a:pt x="2091182" y="3826637"/>
                    <a:pt x="1963039" y="3517265"/>
                    <a:pt x="1963039" y="3188208"/>
                  </a:cubicBezTo>
                  <a:cubicBezTo>
                    <a:pt x="1963039" y="2859151"/>
                    <a:pt x="2091182" y="2549779"/>
                    <a:pt x="2323846" y="2317115"/>
                  </a:cubicBezTo>
                  <a:cubicBezTo>
                    <a:pt x="2555621" y="2085340"/>
                    <a:pt x="2863469" y="1957324"/>
                    <a:pt x="3191129" y="1956308"/>
                  </a:cubicBezTo>
                  <a:lnTo>
                    <a:pt x="3175381" y="7747"/>
                  </a:lnTo>
                  <a:close/>
                </a:path>
              </a:pathLst>
            </a:custGeom>
            <a:solidFill>
              <a:srgbClr val="407709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6859055" y="3372948"/>
            <a:ext cx="4400263" cy="18422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407709"/>
                </a:solidFill>
                <a:latin typeface="Arial Unicode"/>
                <a:ea typeface="Arial Unicode"/>
                <a:cs typeface="Arial Unicode"/>
                <a:sym typeface="Arial Unicode"/>
              </a:rPr>
              <a:t>Java 21 • Spring Boot 3.5.4</a:t>
            </a:r>
          </a:p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407709"/>
                </a:solidFill>
                <a:latin typeface="Arial Unicode"/>
                <a:ea typeface="Arial Unicode"/>
                <a:cs typeface="Arial Unicode"/>
                <a:sym typeface="Arial Unicode"/>
              </a:rPr>
              <a:t> Used for developing the core application logic, REST APIs, and backend services.</a:t>
            </a:r>
          </a:p>
          <a:p>
            <a:pPr algn="l">
              <a:lnSpc>
                <a:spcPts val="2940"/>
              </a:lnSpc>
            </a:pPr>
            <a:endParaRPr lang="en-US" sz="2100">
              <a:solidFill>
                <a:srgbClr val="407709"/>
              </a:solidFill>
              <a:latin typeface="Arial Unicode"/>
              <a:ea typeface="Arial Unicode"/>
              <a:cs typeface="Arial Unicode"/>
              <a:sym typeface="Arial Unicode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6874498" y="2614110"/>
            <a:ext cx="4111473" cy="4387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sz="2599" b="1">
                <a:solidFill>
                  <a:srgbClr val="407709"/>
                </a:solidFill>
                <a:latin typeface="Arial Unicode Bold"/>
                <a:ea typeface="Arial Unicode Bold"/>
                <a:cs typeface="Arial Unicode Bold"/>
                <a:sym typeface="Arial Unicode Bold"/>
              </a:rPr>
              <a:t>1. Backend Technologies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028700" y="2456101"/>
            <a:ext cx="4635033" cy="6472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88"/>
              </a:lnSpc>
            </a:pPr>
            <a:r>
              <a:rPr lang="en-US" sz="4800" b="1">
                <a:solidFill>
                  <a:srgbClr val="407709"/>
                </a:solidFill>
                <a:latin typeface="Arial Unicode Bold"/>
                <a:ea typeface="Arial Unicode Bold"/>
                <a:cs typeface="Arial Unicode Bold"/>
                <a:sym typeface="Arial Unicode Bold"/>
              </a:rPr>
              <a:t>TECH STACK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874498" y="6847020"/>
            <a:ext cx="4384820" cy="18422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FCFFEE"/>
                </a:solidFill>
                <a:latin typeface="Arial Unicode"/>
                <a:ea typeface="Arial Unicode"/>
                <a:cs typeface="Arial Unicode"/>
                <a:sym typeface="Arial Unicode"/>
              </a:rPr>
              <a:t>PostgreSQL • Spring Data JPA • Spring Security </a:t>
            </a:r>
          </a:p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FCFFEE"/>
                </a:solidFill>
                <a:latin typeface="Arial Unicode"/>
                <a:ea typeface="Arial Unicode"/>
                <a:cs typeface="Arial Unicode"/>
                <a:sym typeface="Arial Unicode"/>
              </a:rPr>
              <a:t> Used for structured data storage, database management, authentication.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6874498" y="6299457"/>
            <a:ext cx="3683404" cy="4057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1">
                <a:solidFill>
                  <a:srgbClr val="FCFFEE"/>
                </a:solidFill>
                <a:latin typeface="Arial Unicode Bold"/>
                <a:ea typeface="Arial Unicode Bold"/>
                <a:cs typeface="Arial Unicode Bold"/>
                <a:sym typeface="Arial Unicode Bold"/>
              </a:rPr>
              <a:t>3. Database &amp; Security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2423777" y="6847020"/>
            <a:ext cx="4532829" cy="1470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407709"/>
                </a:solidFill>
                <a:latin typeface="Arial Unicode"/>
                <a:ea typeface="Arial Unicode"/>
                <a:cs typeface="Arial Unicode"/>
                <a:sym typeface="Arial Unicode"/>
              </a:rPr>
              <a:t>Hugging Face • Axios </a:t>
            </a:r>
          </a:p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407709"/>
                </a:solidFill>
                <a:latin typeface="Arial Unicode"/>
                <a:ea typeface="Arial Unicode"/>
                <a:cs typeface="Arial Unicode"/>
                <a:sym typeface="Arial Unicode"/>
              </a:rPr>
              <a:t> hugging face provides AI-powered agricultural predictions, while Axios handles API communication.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2423777" y="6299457"/>
            <a:ext cx="3683404" cy="4057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1">
                <a:solidFill>
                  <a:srgbClr val="407709"/>
                </a:solidFill>
                <a:latin typeface="Arial Unicode Bold"/>
                <a:ea typeface="Arial Unicode Bold"/>
                <a:cs typeface="Arial Unicode Bold"/>
                <a:sym typeface="Arial Unicode Bold"/>
              </a:rPr>
              <a:t>4. AI &amp; Communication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2455943" y="3372948"/>
            <a:ext cx="4306281" cy="18422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407709"/>
                </a:solidFill>
                <a:latin typeface="Arial Unicode"/>
                <a:ea typeface="Arial Unicode"/>
                <a:cs typeface="Arial Unicode"/>
                <a:sym typeface="Arial Unicode"/>
              </a:rPr>
              <a:t>React 19.2.7 • Bootstrap 5.3 • React Router</a:t>
            </a:r>
          </a:p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407709"/>
                </a:solidFill>
                <a:latin typeface="Arial Unicode"/>
                <a:ea typeface="Arial Unicode"/>
                <a:cs typeface="Arial Unicode"/>
                <a:sym typeface="Arial Unicode"/>
              </a:rPr>
              <a:t> Used to build the responsive, interactive, and user-friendly web interface.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2621560" y="2647140"/>
            <a:ext cx="3975047" cy="4057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1">
                <a:solidFill>
                  <a:srgbClr val="407709"/>
                </a:solidFill>
                <a:latin typeface="Arial Unicode Bold"/>
                <a:ea typeface="Arial Unicode Bold"/>
                <a:cs typeface="Arial Unicode Bold"/>
                <a:sym typeface="Arial Unicode Bold"/>
              </a:rPr>
              <a:t>2. Frontend Technologies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59" b="-9259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5945947" y="-8419345"/>
            <a:ext cx="20593492" cy="20593492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CFFEE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5094530" y="2255605"/>
            <a:ext cx="1702834" cy="1702834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2C11B"/>
            </a:solidFill>
            <a:ln w="180975" cap="sq">
              <a:solidFill>
                <a:srgbClr val="FCFFEE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5945947" y="5006189"/>
            <a:ext cx="1702834" cy="1702834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2C11B"/>
            </a:solidFill>
            <a:ln w="180975" cap="sq">
              <a:solidFill>
                <a:srgbClr val="FCFFEE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7648781" y="7555466"/>
            <a:ext cx="1702834" cy="1702834"/>
            <a:chOff x="0" y="0"/>
            <a:chExt cx="812800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2C11B"/>
            </a:solidFill>
            <a:ln w="180975" cap="sq">
              <a:solidFill>
                <a:srgbClr val="FCFFEE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6560078" y="2559836"/>
            <a:ext cx="3455845" cy="3455845"/>
            <a:chOff x="0" y="0"/>
            <a:chExt cx="812800" cy="8128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07709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7147467" y="3147225"/>
            <a:ext cx="2281067" cy="2281067"/>
            <a:chOff x="0" y="0"/>
            <a:chExt cx="812800" cy="8128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2C11B"/>
            </a:solidFill>
            <a:ln w="428625" cap="sq">
              <a:solidFill>
                <a:srgbClr val="FCFFEE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21" name="Freeform 21"/>
          <p:cNvSpPr/>
          <p:nvPr/>
        </p:nvSpPr>
        <p:spPr>
          <a:xfrm>
            <a:off x="5419852" y="2738906"/>
            <a:ext cx="891890" cy="799301"/>
          </a:xfrm>
          <a:custGeom>
            <a:avLst/>
            <a:gdLst/>
            <a:ahLst/>
            <a:cxnLst/>
            <a:rect l="l" t="t" r="r" b="b"/>
            <a:pathLst>
              <a:path w="891890" h="799301">
                <a:moveTo>
                  <a:pt x="0" y="0"/>
                </a:moveTo>
                <a:lnTo>
                  <a:pt x="891890" y="0"/>
                </a:lnTo>
                <a:lnTo>
                  <a:pt x="891890" y="799301"/>
                </a:lnTo>
                <a:lnTo>
                  <a:pt x="0" y="79930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2" name="Freeform 22"/>
          <p:cNvSpPr/>
          <p:nvPr/>
        </p:nvSpPr>
        <p:spPr>
          <a:xfrm>
            <a:off x="6492475" y="5533882"/>
            <a:ext cx="609778" cy="647447"/>
          </a:xfrm>
          <a:custGeom>
            <a:avLst/>
            <a:gdLst/>
            <a:ahLst/>
            <a:cxnLst/>
            <a:rect l="l" t="t" r="r" b="b"/>
            <a:pathLst>
              <a:path w="609778" h="647447">
                <a:moveTo>
                  <a:pt x="0" y="0"/>
                </a:moveTo>
                <a:lnTo>
                  <a:pt x="609778" y="0"/>
                </a:lnTo>
                <a:lnTo>
                  <a:pt x="609778" y="647448"/>
                </a:lnTo>
                <a:lnTo>
                  <a:pt x="0" y="64744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3" name="Freeform 23"/>
          <p:cNvSpPr/>
          <p:nvPr/>
        </p:nvSpPr>
        <p:spPr>
          <a:xfrm>
            <a:off x="8149748" y="8074275"/>
            <a:ext cx="700899" cy="665217"/>
          </a:xfrm>
          <a:custGeom>
            <a:avLst/>
            <a:gdLst/>
            <a:ahLst/>
            <a:cxnLst/>
            <a:rect l="l" t="t" r="r" b="b"/>
            <a:pathLst>
              <a:path w="700899" h="665217">
                <a:moveTo>
                  <a:pt x="0" y="0"/>
                </a:moveTo>
                <a:lnTo>
                  <a:pt x="700899" y="0"/>
                </a:lnTo>
                <a:lnTo>
                  <a:pt x="700899" y="665216"/>
                </a:lnTo>
                <a:lnTo>
                  <a:pt x="0" y="66521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4" name="TextBox 24"/>
          <p:cNvSpPr txBox="1"/>
          <p:nvPr/>
        </p:nvSpPr>
        <p:spPr>
          <a:xfrm>
            <a:off x="7025627" y="1037296"/>
            <a:ext cx="9744561" cy="811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4800" b="1">
                <a:solidFill>
                  <a:srgbClr val="407709"/>
                </a:solidFill>
                <a:latin typeface="Arial Unicode Bold"/>
                <a:ea typeface="Arial Unicode Bold"/>
                <a:cs typeface="Arial Unicode Bold"/>
                <a:sym typeface="Arial Unicode Bold"/>
              </a:rPr>
              <a:t>Implementation Road Map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7648781" y="3059397"/>
            <a:ext cx="7657612" cy="15537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199">
                <a:solidFill>
                  <a:srgbClr val="407709"/>
                </a:solidFill>
                <a:latin typeface="Arial Unicode"/>
                <a:ea typeface="Arial Unicode"/>
                <a:cs typeface="Arial Unicode"/>
                <a:sym typeface="Arial Unicode"/>
              </a:rPr>
              <a:t>Implement farmer authentication and manage farm and crop details, including area, soil, location, sowing, and harvest periods.</a:t>
            </a:r>
          </a:p>
          <a:p>
            <a:pPr algn="l">
              <a:lnSpc>
                <a:spcPts val="3079"/>
              </a:lnSpc>
            </a:pPr>
            <a:endParaRPr lang="en-US" sz="2199">
              <a:solidFill>
                <a:srgbClr val="407709"/>
              </a:solidFill>
              <a:latin typeface="Arial Unicode"/>
              <a:ea typeface="Arial Unicode"/>
              <a:cs typeface="Arial Unicode"/>
              <a:sym typeface="Arial Unicode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7298564" y="2333141"/>
            <a:ext cx="5103908" cy="4387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sz="2599" b="1">
                <a:solidFill>
                  <a:srgbClr val="407709"/>
                </a:solidFill>
                <a:latin typeface="Arial Unicode Bold"/>
                <a:ea typeface="Arial Unicode Bold"/>
                <a:cs typeface="Arial Unicode Bold"/>
                <a:sym typeface="Arial Unicode Bold"/>
              </a:rPr>
              <a:t>1. Farm &amp; Crop Management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500198" y="5775242"/>
            <a:ext cx="7347582" cy="11632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199">
                <a:solidFill>
                  <a:srgbClr val="407709"/>
                </a:solidFill>
                <a:latin typeface="Arial Unicode"/>
                <a:ea typeface="Arial Unicode"/>
                <a:cs typeface="Arial Unicode"/>
                <a:sym typeface="Arial Unicode"/>
              </a:rPr>
              <a:t>Integrate AI services to predict crop yield and required water, fertilizer, pesticides, and tractor hours.</a:t>
            </a:r>
          </a:p>
          <a:p>
            <a:pPr algn="l">
              <a:lnSpc>
                <a:spcPts val="3079"/>
              </a:lnSpc>
            </a:pPr>
            <a:endParaRPr lang="en-US" sz="2199">
              <a:solidFill>
                <a:srgbClr val="407709"/>
              </a:solidFill>
              <a:latin typeface="Arial Unicode"/>
              <a:ea typeface="Arial Unicode"/>
              <a:cs typeface="Arial Unicode"/>
              <a:sym typeface="Arial Unicode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8149981" y="5083724"/>
            <a:ext cx="5313013" cy="4387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sz="2599" b="1">
                <a:solidFill>
                  <a:srgbClr val="407709"/>
                </a:solidFill>
                <a:latin typeface="Arial Unicode Bold"/>
                <a:ea typeface="Arial Unicode Bold"/>
                <a:cs typeface="Arial Unicode Bold"/>
                <a:sym typeface="Arial Unicode Bold"/>
              </a:rPr>
              <a:t>2. AI-Based Precision Planning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0223997" y="8359258"/>
            <a:ext cx="7830694" cy="7727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199">
                <a:solidFill>
                  <a:srgbClr val="407709"/>
                </a:solidFill>
                <a:latin typeface="Arial Unicode"/>
                <a:ea typeface="Arial Unicode"/>
                <a:cs typeface="Arial Unicode"/>
                <a:sym typeface="Arial Unicode"/>
              </a:rPr>
              <a:t>Calculate crop-wise expenses from predicted resources and unit prices, then generate the Farm Crop Report.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852815" y="7633002"/>
            <a:ext cx="5220540" cy="4387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sz="2599" b="1" dirty="0">
                <a:solidFill>
                  <a:srgbClr val="407709"/>
                </a:solidFill>
                <a:latin typeface="Arial Unicode Bold"/>
                <a:ea typeface="Arial Unicode Bold"/>
                <a:cs typeface="Arial Unicode Bold"/>
                <a:sym typeface="Arial Unicode Bold"/>
              </a:rPr>
              <a:t>3. Expense &amp; Report Generation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F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1783962" flipV="1">
            <a:off x="3461872" y="-2123865"/>
            <a:ext cx="21000148" cy="4906577"/>
          </a:xfrm>
          <a:custGeom>
            <a:avLst/>
            <a:gdLst/>
            <a:ahLst/>
            <a:cxnLst/>
            <a:rect l="l" t="t" r="r" b="b"/>
            <a:pathLst>
              <a:path w="21000148" h="4906577">
                <a:moveTo>
                  <a:pt x="0" y="4906577"/>
                </a:moveTo>
                <a:lnTo>
                  <a:pt x="21000149" y="4906577"/>
                </a:lnTo>
                <a:lnTo>
                  <a:pt x="21000149" y="0"/>
                </a:lnTo>
                <a:lnTo>
                  <a:pt x="0" y="0"/>
                </a:lnTo>
                <a:lnTo>
                  <a:pt x="0" y="4906577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1466879" y="-1131924"/>
            <a:ext cx="2160624" cy="2160624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07709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834120" y="-764683"/>
            <a:ext cx="1426143" cy="1426143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2C11B"/>
            </a:solidFill>
            <a:ln w="171450" cap="sq">
              <a:solidFill>
                <a:srgbClr val="FCFFEE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1466879" y="1028700"/>
            <a:ext cx="14234134" cy="8858414"/>
          </a:xfrm>
          <a:custGeom>
            <a:avLst/>
            <a:gdLst/>
            <a:ahLst/>
            <a:cxnLst/>
            <a:rect l="l" t="t" r="r" b="b"/>
            <a:pathLst>
              <a:path w="14234134" h="8858414">
                <a:moveTo>
                  <a:pt x="0" y="0"/>
                </a:moveTo>
                <a:lnTo>
                  <a:pt x="14234135" y="0"/>
                </a:lnTo>
                <a:lnTo>
                  <a:pt x="14234135" y="8858414"/>
                </a:lnTo>
                <a:lnTo>
                  <a:pt x="0" y="885841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9966" r="-2021"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F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98812" y="2664134"/>
            <a:ext cx="4057382" cy="4057382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r="-96078"/>
              </a:stretch>
            </a:blipFill>
            <a:ln w="180975" cap="sq">
              <a:solidFill>
                <a:srgbClr val="82C11B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7113370" y="2664134"/>
            <a:ext cx="4057382" cy="4057382"/>
            <a:chOff x="0" y="0"/>
            <a:chExt cx="812800" cy="812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3"/>
              <a:stretch>
                <a:fillRect l="-24766" r="-24766"/>
              </a:stretch>
            </a:blipFill>
            <a:ln w="180975" cap="sq">
              <a:solidFill>
                <a:srgbClr val="82C11B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2631806" y="2664134"/>
            <a:ext cx="4057382" cy="4057382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 l="-25046" r="-25046"/>
              </a:stretch>
            </a:blipFill>
            <a:ln w="180975" cap="sq">
              <a:solidFill>
                <a:srgbClr val="82C11B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4785212" y="1326408"/>
            <a:ext cx="8717575" cy="811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719"/>
              </a:lnSpc>
            </a:pPr>
            <a:r>
              <a:rPr lang="en-US" sz="4800" b="1">
                <a:solidFill>
                  <a:srgbClr val="407709"/>
                </a:solidFill>
                <a:latin typeface="Arial Unicode Bold"/>
                <a:ea typeface="Arial Unicode Bold"/>
                <a:cs typeface="Arial Unicode Bold"/>
                <a:sym typeface="Arial Unicode Bold"/>
              </a:rPr>
              <a:t>IMPACTS AND BENEFITS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44511" y="8153070"/>
            <a:ext cx="4965985" cy="14707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407709"/>
                </a:solidFill>
                <a:latin typeface="Arial Unicode"/>
                <a:ea typeface="Arial Unicode"/>
                <a:cs typeface="Arial Unicode"/>
                <a:sym typeface="Arial Unicode"/>
              </a:rPr>
              <a:t>Centralizes farm, crop, resource, and expense data for easier agricultural management.</a:t>
            </a:r>
          </a:p>
          <a:p>
            <a:pPr algn="ctr">
              <a:lnSpc>
                <a:spcPts val="2940"/>
              </a:lnSpc>
            </a:pPr>
            <a:endParaRPr lang="en-US" sz="2100">
              <a:solidFill>
                <a:srgbClr val="407709"/>
              </a:solidFill>
              <a:latin typeface="Arial Unicode"/>
              <a:ea typeface="Arial Unicode"/>
              <a:cs typeface="Arial Unicode"/>
              <a:sym typeface="Arial Unicode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431645" y="7261527"/>
            <a:ext cx="4391717" cy="4057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 b="1">
                <a:solidFill>
                  <a:srgbClr val="407709"/>
                </a:solidFill>
                <a:latin typeface="Arial Unicode Bold"/>
                <a:ea typeface="Arial Unicode Bold"/>
                <a:cs typeface="Arial Unicode Bold"/>
                <a:sym typeface="Arial Unicode Bold"/>
              </a:rPr>
              <a:t>Smart Farm Management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659069" y="8153070"/>
            <a:ext cx="4965985" cy="10992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407709"/>
                </a:solidFill>
                <a:latin typeface="Arial Unicode"/>
                <a:ea typeface="Arial Unicode"/>
                <a:cs typeface="Arial Unicode"/>
                <a:sym typeface="Arial Unicode"/>
              </a:rPr>
              <a:t>AI predicts key resource requirements, helping reduce waste and improve resource efficiency.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946203" y="7261527"/>
            <a:ext cx="4391717" cy="4057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 b="1">
                <a:solidFill>
                  <a:srgbClr val="407709"/>
                </a:solidFill>
                <a:latin typeface="Arial Unicode Bold"/>
                <a:ea typeface="Arial Unicode Bold"/>
                <a:cs typeface="Arial Unicode Bold"/>
                <a:sym typeface="Arial Unicode Bold"/>
              </a:rPr>
              <a:t>Resource Optimization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2177504" y="8153070"/>
            <a:ext cx="4965985" cy="10992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407709"/>
                </a:solidFill>
                <a:latin typeface="Arial Unicode"/>
                <a:ea typeface="Arial Unicode"/>
                <a:cs typeface="Arial Unicode"/>
                <a:sym typeface="Arial Unicode"/>
              </a:rPr>
              <a:t>Provides crop-wise cost estimates for better budgeting and informed cultivation decisions.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2464638" y="7261527"/>
            <a:ext cx="4391717" cy="4057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 b="1">
                <a:solidFill>
                  <a:srgbClr val="407709"/>
                </a:solidFill>
                <a:latin typeface="Arial Unicode Bold"/>
                <a:ea typeface="Arial Unicode Bold"/>
                <a:cs typeface="Arial Unicode Bold"/>
                <a:sym typeface="Arial Unicode Bold"/>
              </a:rPr>
              <a:t>Improved Financial Planning</a:t>
            </a:r>
          </a:p>
        </p:txBody>
      </p:sp>
      <p:sp>
        <p:nvSpPr>
          <p:cNvPr id="15" name="Freeform 15"/>
          <p:cNvSpPr/>
          <p:nvPr/>
        </p:nvSpPr>
        <p:spPr>
          <a:xfrm rot="1783962" flipV="1">
            <a:off x="3461872" y="-2123865"/>
            <a:ext cx="21000148" cy="4906577"/>
          </a:xfrm>
          <a:custGeom>
            <a:avLst/>
            <a:gdLst/>
            <a:ahLst/>
            <a:cxnLst/>
            <a:rect l="l" t="t" r="r" b="b"/>
            <a:pathLst>
              <a:path w="21000148" h="4906577">
                <a:moveTo>
                  <a:pt x="0" y="4906577"/>
                </a:moveTo>
                <a:lnTo>
                  <a:pt x="21000149" y="4906577"/>
                </a:lnTo>
                <a:lnTo>
                  <a:pt x="21000149" y="0"/>
                </a:lnTo>
                <a:lnTo>
                  <a:pt x="0" y="0"/>
                </a:lnTo>
                <a:lnTo>
                  <a:pt x="0" y="4906577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6" name="Group 16"/>
          <p:cNvGrpSpPr/>
          <p:nvPr/>
        </p:nvGrpSpPr>
        <p:grpSpPr>
          <a:xfrm>
            <a:off x="1466879" y="-1131924"/>
            <a:ext cx="2160624" cy="2160624"/>
            <a:chOff x="0" y="0"/>
            <a:chExt cx="812800" cy="8128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07709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834120" y="-764683"/>
            <a:ext cx="1426143" cy="1426143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2C11B"/>
            </a:solidFill>
            <a:ln w="171450" cap="sq">
              <a:solidFill>
                <a:srgbClr val="FCFFEE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F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285053" y="1028700"/>
            <a:ext cx="10974247" cy="5241248"/>
            <a:chOff x="0" y="0"/>
            <a:chExt cx="8944636" cy="427191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944635" cy="4271916"/>
            </a:xfrm>
            <a:custGeom>
              <a:avLst/>
              <a:gdLst/>
              <a:ahLst/>
              <a:cxnLst/>
              <a:rect l="l" t="t" r="r" b="b"/>
              <a:pathLst>
                <a:path w="8944635" h="4271916">
                  <a:moveTo>
                    <a:pt x="8762165" y="0"/>
                  </a:moveTo>
                  <a:cubicBezTo>
                    <a:pt x="7000072" y="0"/>
                    <a:pt x="5230823" y="0"/>
                    <a:pt x="3468730" y="0"/>
                  </a:cubicBezTo>
                  <a:lnTo>
                    <a:pt x="3468730" y="129414"/>
                  </a:lnTo>
                  <a:cubicBezTo>
                    <a:pt x="3305937" y="129414"/>
                    <a:pt x="3084110" y="129414"/>
                    <a:pt x="2921318" y="129414"/>
                  </a:cubicBezTo>
                  <a:lnTo>
                    <a:pt x="2921318" y="258827"/>
                  </a:lnTo>
                  <a:cubicBezTo>
                    <a:pt x="2758526" y="258827"/>
                    <a:pt x="2536698" y="258827"/>
                    <a:pt x="2373906" y="258827"/>
                  </a:cubicBezTo>
                  <a:lnTo>
                    <a:pt x="2373906" y="388241"/>
                  </a:lnTo>
                  <a:cubicBezTo>
                    <a:pt x="2282671" y="388241"/>
                    <a:pt x="2100200" y="388241"/>
                    <a:pt x="2008965" y="388241"/>
                  </a:cubicBezTo>
                  <a:lnTo>
                    <a:pt x="2008965" y="517654"/>
                  </a:lnTo>
                  <a:cubicBezTo>
                    <a:pt x="1917730" y="517654"/>
                    <a:pt x="1735259" y="517654"/>
                    <a:pt x="1644024" y="517654"/>
                  </a:cubicBezTo>
                  <a:lnTo>
                    <a:pt x="1644024" y="647068"/>
                  </a:lnTo>
                  <a:cubicBezTo>
                    <a:pt x="1552789" y="647068"/>
                    <a:pt x="1370318" y="647068"/>
                    <a:pt x="1279083" y="647068"/>
                  </a:cubicBezTo>
                  <a:lnTo>
                    <a:pt x="1279083" y="776481"/>
                  </a:lnTo>
                  <a:lnTo>
                    <a:pt x="1094823" y="776481"/>
                  </a:lnTo>
                  <a:lnTo>
                    <a:pt x="1094823" y="905895"/>
                  </a:lnTo>
                  <a:lnTo>
                    <a:pt x="912353" y="905895"/>
                  </a:lnTo>
                  <a:lnTo>
                    <a:pt x="912353" y="1035308"/>
                  </a:lnTo>
                  <a:lnTo>
                    <a:pt x="729882" y="1035308"/>
                  </a:lnTo>
                  <a:cubicBezTo>
                    <a:pt x="729882" y="1100015"/>
                    <a:pt x="729882" y="1229429"/>
                    <a:pt x="729882" y="1294135"/>
                  </a:cubicBezTo>
                  <a:lnTo>
                    <a:pt x="547412" y="1294135"/>
                  </a:lnTo>
                  <a:cubicBezTo>
                    <a:pt x="547412" y="1358842"/>
                    <a:pt x="547412" y="1488256"/>
                    <a:pt x="547412" y="1552962"/>
                  </a:cubicBezTo>
                  <a:lnTo>
                    <a:pt x="364941" y="1552962"/>
                  </a:lnTo>
                  <a:cubicBezTo>
                    <a:pt x="364941" y="1617669"/>
                    <a:pt x="364941" y="1747083"/>
                    <a:pt x="364941" y="1811790"/>
                  </a:cubicBezTo>
                  <a:lnTo>
                    <a:pt x="182471" y="1811790"/>
                  </a:lnTo>
                  <a:cubicBezTo>
                    <a:pt x="182471" y="1927247"/>
                    <a:pt x="182471" y="2084573"/>
                    <a:pt x="182471" y="2200030"/>
                  </a:cubicBezTo>
                  <a:lnTo>
                    <a:pt x="0" y="2200030"/>
                  </a:lnTo>
                  <a:cubicBezTo>
                    <a:pt x="0" y="2887698"/>
                    <a:pt x="0" y="3582979"/>
                    <a:pt x="0" y="4271916"/>
                  </a:cubicBezTo>
                  <a:cubicBezTo>
                    <a:pt x="1944564" y="4271916"/>
                    <a:pt x="3896283" y="4271916"/>
                    <a:pt x="5840847" y="4271916"/>
                  </a:cubicBezTo>
                  <a:lnTo>
                    <a:pt x="5840847" y="4142502"/>
                  </a:lnTo>
                  <a:cubicBezTo>
                    <a:pt x="6003640" y="4142502"/>
                    <a:pt x="6225467" y="4142502"/>
                    <a:pt x="6388259" y="4142502"/>
                  </a:cubicBezTo>
                  <a:lnTo>
                    <a:pt x="6388259" y="4013088"/>
                  </a:lnTo>
                  <a:cubicBezTo>
                    <a:pt x="6551051" y="4013088"/>
                    <a:pt x="6772878" y="4013088"/>
                    <a:pt x="6935670" y="4013088"/>
                  </a:cubicBezTo>
                  <a:lnTo>
                    <a:pt x="6935670" y="3883675"/>
                  </a:lnTo>
                  <a:cubicBezTo>
                    <a:pt x="7026906" y="3883675"/>
                    <a:pt x="7209376" y="3883675"/>
                    <a:pt x="7300612" y="3883675"/>
                  </a:cubicBezTo>
                  <a:lnTo>
                    <a:pt x="7300612" y="3754261"/>
                  </a:lnTo>
                  <a:cubicBezTo>
                    <a:pt x="7391847" y="3754261"/>
                    <a:pt x="7574318" y="3754261"/>
                    <a:pt x="7665553" y="3754261"/>
                  </a:cubicBezTo>
                  <a:lnTo>
                    <a:pt x="7665553" y="3624848"/>
                  </a:lnTo>
                  <a:lnTo>
                    <a:pt x="7848024" y="3624848"/>
                  </a:lnTo>
                  <a:lnTo>
                    <a:pt x="7848024" y="3495434"/>
                  </a:lnTo>
                  <a:lnTo>
                    <a:pt x="8032283" y="3495434"/>
                  </a:lnTo>
                  <a:lnTo>
                    <a:pt x="8032283" y="3366021"/>
                  </a:lnTo>
                  <a:lnTo>
                    <a:pt x="8214754" y="3366021"/>
                  </a:lnTo>
                  <a:cubicBezTo>
                    <a:pt x="8214754" y="3301314"/>
                    <a:pt x="8214754" y="3171900"/>
                    <a:pt x="8214754" y="3107194"/>
                  </a:cubicBezTo>
                  <a:lnTo>
                    <a:pt x="8397224" y="3107194"/>
                  </a:lnTo>
                  <a:cubicBezTo>
                    <a:pt x="8397224" y="3042487"/>
                    <a:pt x="8397224" y="2913073"/>
                    <a:pt x="8397224" y="2848367"/>
                  </a:cubicBezTo>
                  <a:lnTo>
                    <a:pt x="8579695" y="2848367"/>
                  </a:lnTo>
                  <a:cubicBezTo>
                    <a:pt x="8579695" y="2732910"/>
                    <a:pt x="8579695" y="2575583"/>
                    <a:pt x="8579695" y="2460126"/>
                  </a:cubicBezTo>
                  <a:lnTo>
                    <a:pt x="8762165" y="2460126"/>
                  </a:lnTo>
                  <a:cubicBezTo>
                    <a:pt x="8762165" y="2297725"/>
                    <a:pt x="8762165" y="2104873"/>
                    <a:pt x="8762165" y="1942472"/>
                  </a:cubicBezTo>
                  <a:lnTo>
                    <a:pt x="8944635" y="1942472"/>
                  </a:lnTo>
                  <a:cubicBezTo>
                    <a:pt x="8944635" y="1297942"/>
                    <a:pt x="8944635" y="644530"/>
                    <a:pt x="8944635" y="0"/>
                  </a:cubicBezTo>
                  <a:lnTo>
                    <a:pt x="8762165" y="0"/>
                  </a:lnTo>
                  <a:close/>
                </a:path>
              </a:pathLst>
            </a:custGeom>
            <a:blipFill>
              <a:blip r:embed="rId2"/>
              <a:stretch>
                <a:fillRect t="-3392" b="-3392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3420921" y="4981575"/>
            <a:ext cx="3838379" cy="4566451"/>
            <a:chOff x="0" y="0"/>
            <a:chExt cx="1010931" cy="120268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010931" cy="1202687"/>
            </a:xfrm>
            <a:custGeom>
              <a:avLst/>
              <a:gdLst/>
              <a:ahLst/>
              <a:cxnLst/>
              <a:rect l="l" t="t" r="r" b="b"/>
              <a:pathLst>
                <a:path w="1010931" h="1202687">
                  <a:moveTo>
                    <a:pt x="66560" y="0"/>
                  </a:moveTo>
                  <a:lnTo>
                    <a:pt x="944371" y="0"/>
                  </a:lnTo>
                  <a:cubicBezTo>
                    <a:pt x="962024" y="0"/>
                    <a:pt x="978954" y="7013"/>
                    <a:pt x="991436" y="19495"/>
                  </a:cubicBezTo>
                  <a:cubicBezTo>
                    <a:pt x="1003918" y="31978"/>
                    <a:pt x="1010931" y="48907"/>
                    <a:pt x="1010931" y="66560"/>
                  </a:cubicBezTo>
                  <a:lnTo>
                    <a:pt x="1010931" y="1136127"/>
                  </a:lnTo>
                  <a:cubicBezTo>
                    <a:pt x="1010931" y="1172887"/>
                    <a:pt x="981131" y="1202687"/>
                    <a:pt x="944371" y="1202687"/>
                  </a:cubicBezTo>
                  <a:lnTo>
                    <a:pt x="66560" y="1202687"/>
                  </a:lnTo>
                  <a:cubicBezTo>
                    <a:pt x="29800" y="1202687"/>
                    <a:pt x="0" y="1172887"/>
                    <a:pt x="0" y="1136127"/>
                  </a:cubicBezTo>
                  <a:lnTo>
                    <a:pt x="0" y="66560"/>
                  </a:lnTo>
                  <a:cubicBezTo>
                    <a:pt x="0" y="29800"/>
                    <a:pt x="29800" y="0"/>
                    <a:pt x="66560" y="0"/>
                  </a:cubicBezTo>
                  <a:close/>
                </a:path>
              </a:pathLst>
            </a:custGeom>
            <a:solidFill>
              <a:srgbClr val="407709"/>
            </a:solidFill>
            <a:ln w="38100" cap="rnd">
              <a:solidFill>
                <a:srgbClr val="FCFFEE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1010931" cy="12407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9288865" y="4981575"/>
            <a:ext cx="3838379" cy="4566451"/>
            <a:chOff x="0" y="0"/>
            <a:chExt cx="1010931" cy="120268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010931" cy="1202687"/>
            </a:xfrm>
            <a:custGeom>
              <a:avLst/>
              <a:gdLst/>
              <a:ahLst/>
              <a:cxnLst/>
              <a:rect l="l" t="t" r="r" b="b"/>
              <a:pathLst>
                <a:path w="1010931" h="1202687">
                  <a:moveTo>
                    <a:pt x="66560" y="0"/>
                  </a:moveTo>
                  <a:lnTo>
                    <a:pt x="944371" y="0"/>
                  </a:lnTo>
                  <a:cubicBezTo>
                    <a:pt x="962024" y="0"/>
                    <a:pt x="978954" y="7013"/>
                    <a:pt x="991436" y="19495"/>
                  </a:cubicBezTo>
                  <a:cubicBezTo>
                    <a:pt x="1003918" y="31978"/>
                    <a:pt x="1010931" y="48907"/>
                    <a:pt x="1010931" y="66560"/>
                  </a:cubicBezTo>
                  <a:lnTo>
                    <a:pt x="1010931" y="1136127"/>
                  </a:lnTo>
                  <a:cubicBezTo>
                    <a:pt x="1010931" y="1172887"/>
                    <a:pt x="981131" y="1202687"/>
                    <a:pt x="944371" y="1202687"/>
                  </a:cubicBezTo>
                  <a:lnTo>
                    <a:pt x="66560" y="1202687"/>
                  </a:lnTo>
                  <a:cubicBezTo>
                    <a:pt x="29800" y="1202687"/>
                    <a:pt x="0" y="1172887"/>
                    <a:pt x="0" y="1136127"/>
                  </a:cubicBezTo>
                  <a:lnTo>
                    <a:pt x="0" y="66560"/>
                  </a:lnTo>
                  <a:cubicBezTo>
                    <a:pt x="0" y="29800"/>
                    <a:pt x="29800" y="0"/>
                    <a:pt x="66560" y="0"/>
                  </a:cubicBezTo>
                  <a:close/>
                </a:path>
              </a:pathLst>
            </a:custGeom>
            <a:solidFill>
              <a:srgbClr val="407709"/>
            </a:solidFill>
            <a:ln w="38100" cap="rnd">
              <a:solidFill>
                <a:srgbClr val="FCFFEE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1010931" cy="12407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5156809" y="4981575"/>
            <a:ext cx="3838379" cy="4566451"/>
            <a:chOff x="0" y="0"/>
            <a:chExt cx="1010931" cy="1202687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010931" cy="1202687"/>
            </a:xfrm>
            <a:custGeom>
              <a:avLst/>
              <a:gdLst/>
              <a:ahLst/>
              <a:cxnLst/>
              <a:rect l="l" t="t" r="r" b="b"/>
              <a:pathLst>
                <a:path w="1010931" h="1202687">
                  <a:moveTo>
                    <a:pt x="66560" y="0"/>
                  </a:moveTo>
                  <a:lnTo>
                    <a:pt x="944371" y="0"/>
                  </a:lnTo>
                  <a:cubicBezTo>
                    <a:pt x="962024" y="0"/>
                    <a:pt x="978954" y="7013"/>
                    <a:pt x="991436" y="19495"/>
                  </a:cubicBezTo>
                  <a:cubicBezTo>
                    <a:pt x="1003918" y="31978"/>
                    <a:pt x="1010931" y="48907"/>
                    <a:pt x="1010931" y="66560"/>
                  </a:cubicBezTo>
                  <a:lnTo>
                    <a:pt x="1010931" y="1136127"/>
                  </a:lnTo>
                  <a:cubicBezTo>
                    <a:pt x="1010931" y="1172887"/>
                    <a:pt x="981131" y="1202687"/>
                    <a:pt x="944371" y="1202687"/>
                  </a:cubicBezTo>
                  <a:lnTo>
                    <a:pt x="66560" y="1202687"/>
                  </a:lnTo>
                  <a:cubicBezTo>
                    <a:pt x="29800" y="1202687"/>
                    <a:pt x="0" y="1172887"/>
                    <a:pt x="0" y="1136127"/>
                  </a:cubicBezTo>
                  <a:lnTo>
                    <a:pt x="0" y="66560"/>
                  </a:lnTo>
                  <a:cubicBezTo>
                    <a:pt x="0" y="29800"/>
                    <a:pt x="29800" y="0"/>
                    <a:pt x="66560" y="0"/>
                  </a:cubicBezTo>
                  <a:close/>
                </a:path>
              </a:pathLst>
            </a:custGeom>
            <a:solidFill>
              <a:srgbClr val="407709"/>
            </a:solidFill>
            <a:ln w="38100" cap="rnd">
              <a:solidFill>
                <a:srgbClr val="FCFFEE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1010931" cy="12407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028700" y="4981575"/>
            <a:ext cx="3838379" cy="4566451"/>
            <a:chOff x="0" y="0"/>
            <a:chExt cx="1010931" cy="1202687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010931" cy="1202687"/>
            </a:xfrm>
            <a:custGeom>
              <a:avLst/>
              <a:gdLst/>
              <a:ahLst/>
              <a:cxnLst/>
              <a:rect l="l" t="t" r="r" b="b"/>
              <a:pathLst>
                <a:path w="1010931" h="1202687">
                  <a:moveTo>
                    <a:pt x="66560" y="0"/>
                  </a:moveTo>
                  <a:lnTo>
                    <a:pt x="944371" y="0"/>
                  </a:lnTo>
                  <a:cubicBezTo>
                    <a:pt x="962024" y="0"/>
                    <a:pt x="978954" y="7013"/>
                    <a:pt x="991436" y="19495"/>
                  </a:cubicBezTo>
                  <a:cubicBezTo>
                    <a:pt x="1003918" y="31978"/>
                    <a:pt x="1010931" y="48907"/>
                    <a:pt x="1010931" y="66560"/>
                  </a:cubicBezTo>
                  <a:lnTo>
                    <a:pt x="1010931" y="1136127"/>
                  </a:lnTo>
                  <a:cubicBezTo>
                    <a:pt x="1010931" y="1172887"/>
                    <a:pt x="981131" y="1202687"/>
                    <a:pt x="944371" y="1202687"/>
                  </a:cubicBezTo>
                  <a:lnTo>
                    <a:pt x="66560" y="1202687"/>
                  </a:lnTo>
                  <a:cubicBezTo>
                    <a:pt x="29800" y="1202687"/>
                    <a:pt x="0" y="1172887"/>
                    <a:pt x="0" y="1136127"/>
                  </a:cubicBezTo>
                  <a:lnTo>
                    <a:pt x="0" y="66560"/>
                  </a:lnTo>
                  <a:cubicBezTo>
                    <a:pt x="0" y="29800"/>
                    <a:pt x="29800" y="0"/>
                    <a:pt x="66560" y="0"/>
                  </a:cubicBezTo>
                  <a:close/>
                </a:path>
              </a:pathLst>
            </a:custGeom>
            <a:solidFill>
              <a:srgbClr val="407709"/>
            </a:solidFill>
            <a:ln w="38100" cap="rnd">
              <a:solidFill>
                <a:srgbClr val="FCFFEE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1010931" cy="12407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1028700" y="1403985"/>
            <a:ext cx="5894000" cy="7298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67"/>
              </a:lnSpc>
            </a:pPr>
            <a:r>
              <a:rPr lang="en-US" sz="5199" b="1">
                <a:solidFill>
                  <a:srgbClr val="407709"/>
                </a:solidFill>
                <a:latin typeface="Arial Unicode Bold"/>
                <a:ea typeface="Arial Unicode Bold"/>
                <a:cs typeface="Arial Unicode Bold"/>
                <a:sym typeface="Arial Unicode Bold"/>
              </a:rPr>
              <a:t>FUTURE SCOPE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28700" y="2653404"/>
            <a:ext cx="4641569" cy="1944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199">
                <a:solidFill>
                  <a:srgbClr val="407709"/>
                </a:solidFill>
                <a:latin typeface="Arial Unicode"/>
                <a:ea typeface="Arial Unicode"/>
                <a:cs typeface="Arial Unicode"/>
                <a:sym typeface="Arial Unicode"/>
              </a:rPr>
              <a:t>Can be expanded with advanced technologies for more accurate and intelligent agricultural decision-making.</a:t>
            </a:r>
          </a:p>
          <a:p>
            <a:pPr algn="l">
              <a:lnSpc>
                <a:spcPts val="3079"/>
              </a:lnSpc>
            </a:pPr>
            <a:endParaRPr lang="en-US" sz="2199">
              <a:solidFill>
                <a:srgbClr val="407709"/>
              </a:solidFill>
              <a:latin typeface="Arial Unicode"/>
              <a:ea typeface="Arial Unicode"/>
              <a:cs typeface="Arial Unicode"/>
              <a:sym typeface="Arial Unicode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13936869" y="6627641"/>
            <a:ext cx="2956112" cy="19897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19"/>
              </a:lnSpc>
            </a:pPr>
            <a:r>
              <a:rPr lang="en-US" sz="2299">
                <a:solidFill>
                  <a:srgbClr val="FCFFEE"/>
                </a:solidFill>
                <a:latin typeface="Arial Unicode"/>
                <a:ea typeface="Arial Unicode"/>
                <a:cs typeface="Arial Unicode"/>
                <a:sym typeface="Arial Unicode"/>
              </a:rPr>
              <a:t>Extend the platform to mobile devices with AI-powered field management and alerts.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3784469" y="5309828"/>
            <a:ext cx="3260517" cy="976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 b="1">
                <a:solidFill>
                  <a:srgbClr val="FCFFEE"/>
                </a:solidFill>
                <a:latin typeface="Arial Unicode Bold"/>
                <a:ea typeface="Arial Unicode Bold"/>
                <a:cs typeface="Arial Unicode Bold"/>
                <a:sym typeface="Arial Unicode Bold"/>
              </a:rPr>
              <a:t>Mobile &amp; Intelligent Farming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804813" y="6627641"/>
            <a:ext cx="2956112" cy="19897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19"/>
              </a:lnSpc>
            </a:pPr>
            <a:r>
              <a:rPr lang="en-US" sz="2299">
                <a:solidFill>
                  <a:srgbClr val="FCFFEE"/>
                </a:solidFill>
                <a:latin typeface="Arial Unicode"/>
                <a:ea typeface="Arial Unicode"/>
                <a:cs typeface="Arial Unicode"/>
                <a:sym typeface="Arial Unicode"/>
              </a:rPr>
              <a:t>Use satellite imagery and drones to monitor crop health and support precision agriculture.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9753594" y="5293273"/>
            <a:ext cx="2932517" cy="976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 b="1">
                <a:solidFill>
                  <a:srgbClr val="FCFFEE"/>
                </a:solidFill>
                <a:latin typeface="Arial Unicode Bold"/>
                <a:ea typeface="Arial Unicode Bold"/>
                <a:cs typeface="Arial Unicode Bold"/>
                <a:sym typeface="Arial Unicode Bold"/>
              </a:rPr>
              <a:t>Satellite &amp; Drone Monitoring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5599328" y="6627641"/>
            <a:ext cx="2956112" cy="19897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19"/>
              </a:lnSpc>
            </a:pPr>
            <a:r>
              <a:rPr lang="en-US" sz="2299">
                <a:solidFill>
                  <a:srgbClr val="FCFFEE"/>
                </a:solidFill>
                <a:latin typeface="Arial Unicode"/>
                <a:ea typeface="Arial Unicode"/>
                <a:cs typeface="Arial Unicode"/>
                <a:sym typeface="Arial Unicode"/>
              </a:rPr>
              <a:t>Use weather and crop data to improve yield prediction and planning.</a:t>
            </a:r>
          </a:p>
          <a:p>
            <a:pPr algn="ctr">
              <a:lnSpc>
                <a:spcPts val="3219"/>
              </a:lnSpc>
            </a:pPr>
            <a:endParaRPr lang="en-US" sz="2299">
              <a:solidFill>
                <a:srgbClr val="FCFFEE"/>
              </a:solidFill>
              <a:latin typeface="Arial Unicode"/>
              <a:ea typeface="Arial Unicode"/>
              <a:cs typeface="Arial Unicode"/>
              <a:sym typeface="Arial Unicode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5522882" y="5309828"/>
            <a:ext cx="2667386" cy="976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 b="1">
                <a:solidFill>
                  <a:srgbClr val="FCFFEE"/>
                </a:solidFill>
                <a:latin typeface="Arial Unicode Bold"/>
                <a:ea typeface="Arial Unicode Bold"/>
                <a:cs typeface="Arial Unicode Bold"/>
                <a:sym typeface="Arial Unicode Bold"/>
              </a:rPr>
              <a:t>Weather &amp; Crop Analytics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391072" y="6627641"/>
            <a:ext cx="2956112" cy="23898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19"/>
              </a:lnSpc>
            </a:pPr>
            <a:r>
              <a:rPr lang="en-US" sz="2299">
                <a:solidFill>
                  <a:srgbClr val="FCFFEE"/>
                </a:solidFill>
                <a:latin typeface="Arial Unicode"/>
                <a:ea typeface="Arial Unicode"/>
                <a:cs typeface="Arial Unicode"/>
                <a:sym typeface="Arial Unicode"/>
              </a:rPr>
              <a:t>Integrate soil moisture, temperature, and weather sensors for real-time field monitoring.</a:t>
            </a:r>
          </a:p>
          <a:p>
            <a:pPr algn="ctr">
              <a:lnSpc>
                <a:spcPts val="3219"/>
              </a:lnSpc>
            </a:pPr>
            <a:endParaRPr lang="en-US" sz="2299">
              <a:solidFill>
                <a:srgbClr val="FCFFEE"/>
              </a:solidFill>
              <a:latin typeface="Arial Unicode"/>
              <a:ea typeface="Arial Unicode"/>
              <a:cs typeface="Arial Unicode"/>
              <a:sym typeface="Arial Unicode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1471494" y="5309828"/>
            <a:ext cx="2952792" cy="976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 b="1">
                <a:solidFill>
                  <a:srgbClr val="FCFFEE"/>
                </a:solidFill>
                <a:latin typeface="Arial Unicode Bold"/>
                <a:ea typeface="Arial Unicode Bold"/>
                <a:cs typeface="Arial Unicode Bold"/>
                <a:sym typeface="Arial Unicode Bold"/>
              </a:rPr>
              <a:t>IoT &amp; Smart Sensors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F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1783962" flipV="1">
            <a:off x="3461872" y="-2123865"/>
            <a:ext cx="21000148" cy="4906577"/>
          </a:xfrm>
          <a:custGeom>
            <a:avLst/>
            <a:gdLst/>
            <a:ahLst/>
            <a:cxnLst/>
            <a:rect l="l" t="t" r="r" b="b"/>
            <a:pathLst>
              <a:path w="21000148" h="4906577">
                <a:moveTo>
                  <a:pt x="0" y="4906577"/>
                </a:moveTo>
                <a:lnTo>
                  <a:pt x="21000149" y="4906577"/>
                </a:lnTo>
                <a:lnTo>
                  <a:pt x="21000149" y="0"/>
                </a:lnTo>
                <a:lnTo>
                  <a:pt x="0" y="0"/>
                </a:lnTo>
                <a:lnTo>
                  <a:pt x="0" y="4906577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1466879" y="-1131924"/>
            <a:ext cx="2160624" cy="2160624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07709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834120" y="-764683"/>
            <a:ext cx="1426143" cy="1426143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2C11B"/>
            </a:solidFill>
            <a:ln w="171450" cap="sq">
              <a:solidFill>
                <a:srgbClr val="FCFFEE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1001476" y="2533538"/>
            <a:ext cx="6744454" cy="6744346"/>
            <a:chOff x="0" y="0"/>
            <a:chExt cx="6350000" cy="6349898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6350000" cy="6349873"/>
            </a:xfrm>
            <a:custGeom>
              <a:avLst/>
              <a:gdLst/>
              <a:ahLst/>
              <a:cxnLst/>
              <a:rect l="l" t="t" r="r" b="b"/>
              <a:pathLst>
                <a:path w="6350000" h="6349873">
                  <a:moveTo>
                    <a:pt x="6127445" y="5019675"/>
                  </a:moveTo>
                  <a:cubicBezTo>
                    <a:pt x="6270282" y="5262651"/>
                    <a:pt x="6281941" y="5573395"/>
                    <a:pt x="6130951" y="5834875"/>
                  </a:cubicBezTo>
                  <a:cubicBezTo>
                    <a:pt x="5907545" y="6221756"/>
                    <a:pt x="5412753" y="6354356"/>
                    <a:pt x="5025885" y="6130976"/>
                  </a:cubicBezTo>
                  <a:cubicBezTo>
                    <a:pt x="4434891" y="5783288"/>
                    <a:pt x="3670046" y="5879681"/>
                    <a:pt x="3175127" y="6349873"/>
                  </a:cubicBezTo>
                  <a:lnTo>
                    <a:pt x="3174784" y="6349873"/>
                  </a:lnTo>
                  <a:cubicBezTo>
                    <a:pt x="2689149" y="5888482"/>
                    <a:pt x="1940827" y="5778526"/>
                    <a:pt x="1330249" y="6127395"/>
                  </a:cubicBezTo>
                  <a:cubicBezTo>
                    <a:pt x="1087323" y="6270231"/>
                    <a:pt x="776516" y="6281839"/>
                    <a:pt x="515036" y="6130900"/>
                  </a:cubicBezTo>
                  <a:cubicBezTo>
                    <a:pt x="128168" y="5907468"/>
                    <a:pt x="-4394" y="5412664"/>
                    <a:pt x="218935" y="5025796"/>
                  </a:cubicBezTo>
                  <a:cubicBezTo>
                    <a:pt x="566649" y="4434954"/>
                    <a:pt x="470192" y="3670071"/>
                    <a:pt x="0" y="3175178"/>
                  </a:cubicBezTo>
                  <a:lnTo>
                    <a:pt x="0" y="3174835"/>
                  </a:lnTo>
                  <a:cubicBezTo>
                    <a:pt x="461442" y="2689187"/>
                    <a:pt x="571348" y="1940967"/>
                    <a:pt x="222504" y="1330338"/>
                  </a:cubicBezTo>
                  <a:cubicBezTo>
                    <a:pt x="79629" y="1087412"/>
                    <a:pt x="68009" y="776618"/>
                    <a:pt x="219024" y="515176"/>
                  </a:cubicBezTo>
                  <a:cubicBezTo>
                    <a:pt x="442405" y="128207"/>
                    <a:pt x="937196" y="-4407"/>
                    <a:pt x="1324064" y="218974"/>
                  </a:cubicBezTo>
                  <a:cubicBezTo>
                    <a:pt x="1915046" y="566598"/>
                    <a:pt x="2679890" y="470192"/>
                    <a:pt x="3174835" y="0"/>
                  </a:cubicBezTo>
                  <a:lnTo>
                    <a:pt x="3175178" y="0"/>
                  </a:lnTo>
                  <a:cubicBezTo>
                    <a:pt x="3675558" y="475399"/>
                    <a:pt x="4428147" y="563143"/>
                    <a:pt x="5025936" y="218961"/>
                  </a:cubicBezTo>
                  <a:cubicBezTo>
                    <a:pt x="5412804" y="-4420"/>
                    <a:pt x="5907596" y="128156"/>
                    <a:pt x="6131001" y="515061"/>
                  </a:cubicBezTo>
                  <a:cubicBezTo>
                    <a:pt x="6281991" y="776554"/>
                    <a:pt x="6270333" y="1087399"/>
                    <a:pt x="6127445" y="1330376"/>
                  </a:cubicBezTo>
                  <a:cubicBezTo>
                    <a:pt x="5778640" y="1941005"/>
                    <a:pt x="5888609" y="2689123"/>
                    <a:pt x="6350000" y="3174784"/>
                  </a:cubicBezTo>
                  <a:lnTo>
                    <a:pt x="6350000" y="3175127"/>
                  </a:lnTo>
                  <a:cubicBezTo>
                    <a:pt x="5888546" y="3660826"/>
                    <a:pt x="5778640" y="4409046"/>
                    <a:pt x="6127445" y="5019675"/>
                  </a:cubicBezTo>
                </a:path>
              </a:pathLst>
            </a:custGeom>
            <a:blipFill>
              <a:blip r:embed="rId3"/>
              <a:stretch>
                <a:fillRect l="-39102" r="-39102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5463669" y="-1080312"/>
            <a:ext cx="2160624" cy="2160624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07709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5830910" y="-713071"/>
            <a:ext cx="1426143" cy="1426143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2C11B"/>
            </a:solidFill>
            <a:ln w="171450" cap="sq">
              <a:solidFill>
                <a:srgbClr val="FCFFEE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462618" y="-1080312"/>
            <a:ext cx="2160624" cy="2160624"/>
            <a:chOff x="0" y="0"/>
            <a:chExt cx="812800" cy="8128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07709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829859" y="-713071"/>
            <a:ext cx="1426143" cy="1426143"/>
            <a:chOff x="0" y="0"/>
            <a:chExt cx="812800" cy="8128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2C11B"/>
            </a:solidFill>
            <a:ln w="171450" cap="sq">
              <a:solidFill>
                <a:srgbClr val="FCFFEE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1466879" y="2590688"/>
            <a:ext cx="5894000" cy="7298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67"/>
              </a:lnSpc>
            </a:pPr>
            <a:r>
              <a:rPr lang="en-US" sz="5199" b="1">
                <a:solidFill>
                  <a:srgbClr val="407709"/>
                </a:solidFill>
                <a:latin typeface="Arial Unicode Bold"/>
                <a:ea typeface="Arial Unicode Bold"/>
                <a:cs typeface="Arial Unicode Bold"/>
                <a:sym typeface="Arial Unicode Bold"/>
              </a:rPr>
              <a:t>Conclusion: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499718" y="3899526"/>
            <a:ext cx="7962900" cy="12439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399">
                <a:solidFill>
                  <a:srgbClr val="407709"/>
                </a:solidFill>
                <a:latin typeface="Arial Unicode"/>
                <a:ea typeface="Arial Unicode"/>
                <a:cs typeface="Arial Unicode"/>
                <a:sym typeface="Arial Unicode"/>
              </a:rPr>
              <a:t>Combines farm management, AI prediction, resource planning, and expense analysis for smarter, sustainable farming.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466879" y="5915025"/>
            <a:ext cx="5894000" cy="6671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32"/>
              </a:lnSpc>
            </a:pPr>
            <a:r>
              <a:rPr lang="en-US" sz="4800" b="1">
                <a:solidFill>
                  <a:srgbClr val="407709"/>
                </a:solidFill>
                <a:latin typeface="Arial Unicode Bold"/>
                <a:ea typeface="Arial Unicode Bold"/>
                <a:cs typeface="Arial Unicode Bold"/>
                <a:sym typeface="Arial Unicode Bold"/>
              </a:rPr>
              <a:t>Outcomes: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181100" y="6797367"/>
            <a:ext cx="9281350" cy="27252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74979" lvl="1" indent="-237490" algn="l">
              <a:lnSpc>
                <a:spcPts val="3079"/>
              </a:lnSpc>
              <a:buFont typeface="Arial"/>
              <a:buChar char="•"/>
            </a:pPr>
            <a:r>
              <a:rPr lang="en-US" sz="2199" b="1">
                <a:solidFill>
                  <a:srgbClr val="407709"/>
                </a:solidFill>
                <a:latin typeface="Arial Unicode Bold"/>
                <a:ea typeface="Arial Unicode Bold"/>
                <a:cs typeface="Arial Unicode Bold"/>
                <a:sym typeface="Arial Unicode Bold"/>
              </a:rPr>
              <a:t>Accurate Crop Yield Prediction: </a:t>
            </a:r>
            <a:r>
              <a:rPr lang="en-US" sz="2199">
                <a:solidFill>
                  <a:srgbClr val="407709"/>
                </a:solidFill>
                <a:latin typeface="Arial Unicode"/>
                <a:ea typeface="Arial Unicode"/>
                <a:cs typeface="Arial Unicode"/>
                <a:sym typeface="Arial Unicode"/>
              </a:rPr>
              <a:t>Helps farmers estimate crop production using AI-based analysis.</a:t>
            </a:r>
          </a:p>
          <a:p>
            <a:pPr marL="474979" lvl="1" indent="-237490" algn="l">
              <a:lnSpc>
                <a:spcPts val="3079"/>
              </a:lnSpc>
              <a:buFont typeface="Arial"/>
              <a:buChar char="•"/>
            </a:pPr>
            <a:r>
              <a:rPr lang="en-US" sz="2199" b="1">
                <a:solidFill>
                  <a:srgbClr val="407709"/>
                </a:solidFill>
                <a:latin typeface="Arial Unicode Bold"/>
                <a:ea typeface="Arial Unicode Bold"/>
                <a:cs typeface="Arial Unicode Bold"/>
                <a:sym typeface="Arial Unicode Bold"/>
              </a:rPr>
              <a:t>Efficient Resource &amp; Cost Management: </a:t>
            </a:r>
            <a:r>
              <a:rPr lang="en-US" sz="2199">
                <a:solidFill>
                  <a:srgbClr val="407709"/>
                </a:solidFill>
                <a:latin typeface="Arial Unicode"/>
                <a:ea typeface="Arial Unicode"/>
                <a:cs typeface="Arial Unicode"/>
                <a:sym typeface="Arial Unicode"/>
              </a:rPr>
              <a:t>Supports better planning of water, fertilizer, pesticides, and tractor usage.</a:t>
            </a:r>
          </a:p>
          <a:p>
            <a:pPr marL="474979" lvl="1" indent="-237490" algn="l">
              <a:lnSpc>
                <a:spcPts val="3079"/>
              </a:lnSpc>
              <a:buFont typeface="Arial"/>
              <a:buChar char="•"/>
            </a:pPr>
            <a:r>
              <a:rPr lang="en-US" sz="2199" b="1">
                <a:solidFill>
                  <a:srgbClr val="407709"/>
                </a:solidFill>
                <a:latin typeface="Arial Unicode Bold"/>
                <a:ea typeface="Arial Unicode Bold"/>
                <a:cs typeface="Arial Unicode Bold"/>
                <a:sym typeface="Arial Unicode Bold"/>
              </a:rPr>
              <a:t>Smarter Farming Decisions: </a:t>
            </a:r>
            <a:r>
              <a:rPr lang="en-US" sz="2199">
                <a:solidFill>
                  <a:srgbClr val="407709"/>
                </a:solidFill>
                <a:latin typeface="Arial Unicode"/>
                <a:ea typeface="Arial Unicode"/>
                <a:cs typeface="Arial Unicode"/>
                <a:sym typeface="Arial Unicode"/>
              </a:rPr>
              <a:t>Provides integrated farm and crop insights for efficient agricultural planning.</a:t>
            </a:r>
          </a:p>
          <a:p>
            <a:pPr algn="l">
              <a:lnSpc>
                <a:spcPts val="3079"/>
              </a:lnSpc>
            </a:pPr>
            <a:endParaRPr lang="en-US" sz="2199">
              <a:solidFill>
                <a:srgbClr val="407709"/>
              </a:solidFill>
              <a:latin typeface="Arial Unicode"/>
              <a:ea typeface="Arial Unicode"/>
              <a:cs typeface="Arial Unicode"/>
              <a:sym typeface="Arial Unicode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-378586" y="0"/>
            <a:ext cx="11034210" cy="10569730"/>
            <a:chOff x="0" y="0"/>
            <a:chExt cx="2906129" cy="278379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906130" cy="2783797"/>
            </a:xfrm>
            <a:custGeom>
              <a:avLst/>
              <a:gdLst/>
              <a:ahLst/>
              <a:cxnLst/>
              <a:rect l="l" t="t" r="r" b="b"/>
              <a:pathLst>
                <a:path w="2906130" h="2783797">
                  <a:moveTo>
                    <a:pt x="0" y="0"/>
                  </a:moveTo>
                  <a:lnTo>
                    <a:pt x="2906130" y="0"/>
                  </a:lnTo>
                  <a:lnTo>
                    <a:pt x="2906130" y="2783797"/>
                  </a:lnTo>
                  <a:lnTo>
                    <a:pt x="0" y="2783797"/>
                  </a:lnTo>
                  <a:close/>
                </a:path>
              </a:pathLst>
            </a:custGeom>
            <a:solidFill>
              <a:srgbClr val="FCFFEE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2906129" cy="282189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1028700" y="1360831"/>
            <a:ext cx="1225737" cy="849101"/>
          </a:xfrm>
          <a:custGeom>
            <a:avLst/>
            <a:gdLst/>
            <a:ahLst/>
            <a:cxnLst/>
            <a:rect l="l" t="t" r="r" b="b"/>
            <a:pathLst>
              <a:path w="1225737" h="849101">
                <a:moveTo>
                  <a:pt x="0" y="0"/>
                </a:moveTo>
                <a:lnTo>
                  <a:pt x="1225737" y="0"/>
                </a:lnTo>
                <a:lnTo>
                  <a:pt x="1225737" y="849101"/>
                </a:lnTo>
                <a:lnTo>
                  <a:pt x="0" y="84910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 rot="-4372704">
            <a:off x="6433986" y="4568542"/>
            <a:ext cx="3331572" cy="3734733"/>
          </a:xfrm>
          <a:custGeom>
            <a:avLst/>
            <a:gdLst/>
            <a:ahLst/>
            <a:cxnLst/>
            <a:rect l="l" t="t" r="r" b="b"/>
            <a:pathLst>
              <a:path w="3331572" h="3734733">
                <a:moveTo>
                  <a:pt x="0" y="0"/>
                </a:moveTo>
                <a:lnTo>
                  <a:pt x="3331572" y="0"/>
                </a:lnTo>
                <a:lnTo>
                  <a:pt x="3331572" y="3734732"/>
                </a:lnTo>
                <a:lnTo>
                  <a:pt x="0" y="373473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 rot="5400000">
            <a:off x="5852367" y="3849053"/>
            <a:ext cx="10437278" cy="2438616"/>
          </a:xfrm>
          <a:custGeom>
            <a:avLst/>
            <a:gdLst/>
            <a:ahLst/>
            <a:cxnLst/>
            <a:rect l="l" t="t" r="r" b="b"/>
            <a:pathLst>
              <a:path w="10437278" h="2438616">
                <a:moveTo>
                  <a:pt x="0" y="0"/>
                </a:moveTo>
                <a:lnTo>
                  <a:pt x="10437278" y="0"/>
                </a:lnTo>
                <a:lnTo>
                  <a:pt x="10437278" y="2438616"/>
                </a:lnTo>
                <a:lnTo>
                  <a:pt x="0" y="243861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TextBox 9"/>
          <p:cNvSpPr txBox="1"/>
          <p:nvPr/>
        </p:nvSpPr>
        <p:spPr>
          <a:xfrm>
            <a:off x="957187" y="6041573"/>
            <a:ext cx="6264126" cy="7124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80"/>
              </a:lnSpc>
            </a:pPr>
            <a:r>
              <a:rPr lang="en-US" sz="4200" b="1">
                <a:solidFill>
                  <a:srgbClr val="82C11B"/>
                </a:solidFill>
                <a:latin typeface="Arial Unicode Bold"/>
                <a:ea typeface="Arial Unicode Bold"/>
                <a:cs typeface="Arial Unicode Bold"/>
                <a:sym typeface="Arial Unicode Bold"/>
              </a:rPr>
              <a:t>Grow with Purpose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40041" y="4086169"/>
            <a:ext cx="8746515" cy="1773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576"/>
              </a:lnSpc>
            </a:pPr>
            <a:r>
              <a:rPr lang="en-US" sz="10412" b="1">
                <a:solidFill>
                  <a:srgbClr val="407709"/>
                </a:solidFill>
                <a:latin typeface="Arial Unicode Bold"/>
                <a:ea typeface="Arial Unicode Bold"/>
                <a:cs typeface="Arial Unicode Bold"/>
                <a:sym typeface="Arial Unicode Bold"/>
              </a:rPr>
              <a:t>Thank You!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519578" y="1206936"/>
            <a:ext cx="7066979" cy="10997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 b="1" spc="185">
                <a:solidFill>
                  <a:srgbClr val="82C11B"/>
                </a:solidFill>
                <a:latin typeface="Arial Unicode Bold"/>
                <a:ea typeface="Arial Unicode Bold"/>
                <a:cs typeface="Arial Unicode Bold"/>
                <a:sym typeface="Arial Unicode Bold"/>
              </a:rPr>
              <a:t>INTELLIGENT  FARM  OPERATION  PLATFORM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710</Words>
  <Application>Microsoft Office PowerPoint</Application>
  <PresentationFormat>Custom</PresentationFormat>
  <Paragraphs>88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Calibri</vt:lpstr>
      <vt:lpstr>Arial Unicode Bold</vt:lpstr>
      <vt:lpstr>Arial Unicode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Green and White Modern Agriculture Presentation</dc:title>
  <cp:lastModifiedBy>LIKITH METLA</cp:lastModifiedBy>
  <cp:revision>7</cp:revision>
  <dcterms:created xsi:type="dcterms:W3CDTF">2006-08-16T00:00:00Z</dcterms:created>
  <dcterms:modified xsi:type="dcterms:W3CDTF">2026-08-31T15:24:10Z</dcterms:modified>
  <dc:identifier>DAHS7C2RoeM</dc:identifier>
</cp:coreProperties>
</file>